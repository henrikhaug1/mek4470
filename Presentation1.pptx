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9" r:id="rId1"/>
  </p:sldMasterIdLst>
  <p:notesMasterIdLst>
    <p:notesMasterId r:id="rId16"/>
  </p:notesMasterIdLst>
  <p:sldIdLst>
    <p:sldId id="256" r:id="rId2"/>
    <p:sldId id="271" r:id="rId3"/>
    <p:sldId id="258" r:id="rId4"/>
    <p:sldId id="257" r:id="rId5"/>
    <p:sldId id="260" r:id="rId6"/>
    <p:sldId id="268" r:id="rId7"/>
    <p:sldId id="261" r:id="rId8"/>
    <p:sldId id="275" r:id="rId9"/>
    <p:sldId id="272" r:id="rId10"/>
    <p:sldId id="274" r:id="rId11"/>
    <p:sldId id="262" r:id="rId12"/>
    <p:sldId id="263" r:id="rId13"/>
    <p:sldId id="264" r:id="rId14"/>
    <p:sldId id="273" r:id="rId15"/>
  </p:sldIdLst>
  <p:sldSz cx="12192000" cy="6858000"/>
  <p:notesSz cx="6858000" cy="9144000"/>
  <p:defaultTextStyle>
    <a:defPPr>
      <a:defRPr lang="en-N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F88E"/>
    <a:srgbClr val="BEF58C"/>
    <a:srgbClr val="B0E48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65"/>
    <p:restoredTop sz="95494"/>
  </p:normalViewPr>
  <p:slideViewPr>
    <p:cSldViewPr snapToGrid="0">
      <p:cViewPr varScale="1">
        <p:scale>
          <a:sx n="177" d="100"/>
          <a:sy n="177" d="100"/>
        </p:scale>
        <p:origin x="43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6CCAA-7520-2C44-BCD8-0C95CAB14863}" type="datetimeFigureOut">
              <a:rPr lang="en-US" smtClean="0"/>
              <a:t>6/3/26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04A9B6-AF14-014D-87C3-238F7623C2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21107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04A9B6-AF14-014D-87C3-238F7623C25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1445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63120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8026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67986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6/2/26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56360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6/2/26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0681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6/2/26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01224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6/2/26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2958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6/2/26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7082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6/2/26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555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70325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27208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4572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8" r:id="rId6"/>
    <p:sldLayoutId id="2147483693" r:id="rId7"/>
    <p:sldLayoutId id="2147483694" r:id="rId8"/>
    <p:sldLayoutId id="2147483695" r:id="rId9"/>
    <p:sldLayoutId id="2147483697" r:id="rId10"/>
    <p:sldLayoutId id="2147483696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FD1D2CD-954D-4C4D-B505-05EAD159B2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randview Display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67165D-2A79-28F3-FDB3-DC75D70F6E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4117" y="952500"/>
            <a:ext cx="4124557" cy="352425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900" noProof="1"/>
              <a:t>No Mesh? </a:t>
            </a:r>
            <a:br>
              <a:rPr lang="en-US" sz="4900" noProof="1"/>
            </a:br>
            <a:r>
              <a:rPr lang="en-US" sz="4900" noProof="1"/>
              <a:t>No Problem</a:t>
            </a:r>
            <a:br>
              <a:rPr lang="en-US" sz="4900" noProof="1"/>
            </a:br>
            <a:r>
              <a:rPr lang="en-US" sz="4900" noProof="1"/>
              <a:t>-</a:t>
            </a:r>
            <a:br>
              <a:rPr lang="en-US" sz="4900" noProof="1"/>
            </a:br>
            <a:r>
              <a:rPr lang="en-US" sz="4900" noProof="1"/>
              <a:t>openFoam meets PINNs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AB1DB6-FD92-286B-5C10-6E96192670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4118" y="5374291"/>
            <a:ext cx="4057882" cy="972532"/>
          </a:xfrm>
        </p:spPr>
        <p:txBody>
          <a:bodyPr anchor="t">
            <a:normAutofit/>
          </a:bodyPr>
          <a:lstStyle/>
          <a:p>
            <a:pPr>
              <a:lnSpc>
                <a:spcPct val="120000"/>
              </a:lnSpc>
            </a:pPr>
            <a:r>
              <a:rPr lang="en-US" sz="1500" noProof="1"/>
              <a:t>In Navier Stokes incompressible laminar flows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2D508B3-A66C-833E-D929-8DC2116356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92088" y="4882722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6DE6E991-9022-6CAC-F3DD-AE40F70898E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31" r="17091"/>
          <a:stretch>
            <a:fillRect/>
          </a:stretch>
        </p:blipFill>
        <p:spPr>
          <a:xfrm>
            <a:off x="5261956" y="10"/>
            <a:ext cx="6930043" cy="685799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D96A191-0859-B998-90CC-1D0A200B5994}"/>
              </a:ext>
            </a:extLst>
          </p:cNvPr>
          <p:cNvSpPr txBox="1"/>
          <p:nvPr/>
        </p:nvSpPr>
        <p:spPr>
          <a:xfrm>
            <a:off x="150920" y="6454066"/>
            <a:ext cx="1093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Mek4470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EA10216-56D3-097C-A61E-77DF068058B6}"/>
              </a:ext>
            </a:extLst>
          </p:cNvPr>
          <p:cNvSpPr txBox="1"/>
          <p:nvPr/>
        </p:nvSpPr>
        <p:spPr>
          <a:xfrm>
            <a:off x="3808520" y="6471821"/>
            <a:ext cx="1438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Henrik Haug</a:t>
            </a:r>
          </a:p>
        </p:txBody>
      </p:sp>
    </p:spTree>
    <p:extLst>
      <p:ext uri="{BB962C8B-B14F-4D97-AF65-F5344CB8AC3E}">
        <p14:creationId xmlns:p14="http://schemas.microsoft.com/office/powerpoint/2010/main" val="31722466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DBDA151C-5770-45E4-AAFF-59E7F40386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546E100-0178-F2CD-97F0-B366FB7AE1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914399"/>
            <a:ext cx="10847494" cy="1171069"/>
          </a:xfrm>
        </p:spPr>
        <p:txBody>
          <a:bodyPr anchor="t">
            <a:normAutofit/>
          </a:bodyPr>
          <a:lstStyle/>
          <a:p>
            <a:r>
              <a:rPr lang="en-US" dirty="0"/>
              <a:t>What are PINNs, and why use them?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10FCFF-EC2E-15EE-8815-E5894E1EE7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15150" y="2256287"/>
            <a:ext cx="4563618" cy="3760459"/>
          </a:xfrm>
        </p:spPr>
        <p:txBody>
          <a:bodyPr anchor="t">
            <a:normAutofit/>
          </a:bodyPr>
          <a:lstStyle/>
          <a:p>
            <a:pPr marL="285750" indent="-285750"/>
            <a:r>
              <a:rPr lang="en-US" dirty="0"/>
              <a:t>Multilayer perceptron (MLP)</a:t>
            </a:r>
          </a:p>
          <a:p>
            <a:pPr marL="285750" indent="-285750"/>
            <a:r>
              <a:rPr lang="en-US" dirty="0"/>
              <a:t>Meshless architecture</a:t>
            </a:r>
          </a:p>
          <a:p>
            <a:pPr marL="550926" lvl="1" indent="-285750"/>
            <a:r>
              <a:rPr lang="en-US" dirty="0"/>
              <a:t>Datapoint validation</a:t>
            </a:r>
          </a:p>
          <a:p>
            <a:pPr marL="285750" indent="-285750"/>
            <a:r>
              <a:rPr lang="en-US" dirty="0"/>
              <a:t>PDE residual is embedded directly into the loss function</a:t>
            </a:r>
          </a:p>
          <a:p>
            <a:r>
              <a:rPr lang="en-US" dirty="0"/>
              <a:t>Data Efficient (Does not need training data for solving the forward problem)</a:t>
            </a:r>
          </a:p>
          <a:p>
            <a:r>
              <a:rPr lang="en-US" dirty="0"/>
              <a:t>Perform well on inverse problems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EA0F4A6-3CC9-C9E2-BA02-58FA29F7DD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72253" y="6272784"/>
            <a:ext cx="10847495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Content Placeholder 4">
            <a:extLst>
              <a:ext uri="{FF2B5EF4-FFF2-40B4-BE49-F238E27FC236}">
                <a16:creationId xmlns:a16="http://schemas.microsoft.com/office/drawing/2014/main" id="{BA2BE5F3-C89C-D67C-64C8-EE6F3F50B42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14489204"/>
              </p:ext>
            </p:extLst>
          </p:nvPr>
        </p:nvGraphicFramePr>
        <p:xfrm>
          <a:off x="720000" y="2816713"/>
          <a:ext cx="5641425" cy="2639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4545">
                  <a:extLst>
                    <a:ext uri="{9D8B030D-6E8A-4147-A177-3AD203B41FA5}">
                      <a16:colId xmlns:a16="http://schemas.microsoft.com/office/drawing/2014/main" val="1905779268"/>
                    </a:ext>
                  </a:extLst>
                </a:gridCol>
                <a:gridCol w="2906880">
                  <a:extLst>
                    <a:ext uri="{9D8B030D-6E8A-4147-A177-3AD203B41FA5}">
                      <a16:colId xmlns:a16="http://schemas.microsoft.com/office/drawing/2014/main" val="3756693606"/>
                    </a:ext>
                  </a:extLst>
                </a:gridCol>
              </a:tblGrid>
              <a:tr h="374654">
                <a:tc>
                  <a:txBody>
                    <a:bodyPr/>
                    <a:lstStyle/>
                    <a:p>
                      <a:r>
                        <a:rPr lang="en-US" sz="1700"/>
                        <a:t>openFoam</a:t>
                      </a:r>
                    </a:p>
                  </a:txBody>
                  <a:tcPr marL="85149" marR="85149" marT="42574" marB="42574"/>
                </a:tc>
                <a:tc>
                  <a:txBody>
                    <a:bodyPr/>
                    <a:lstStyle/>
                    <a:p>
                      <a:r>
                        <a:rPr lang="en-US" sz="1700"/>
                        <a:t>Pinn</a:t>
                      </a:r>
                    </a:p>
                  </a:txBody>
                  <a:tcPr marL="85149" marR="85149" marT="42574" marB="42574"/>
                </a:tc>
                <a:extLst>
                  <a:ext uri="{0D108BD9-81ED-4DB2-BD59-A6C34878D82A}">
                    <a16:rowId xmlns:a16="http://schemas.microsoft.com/office/drawing/2014/main" val="3005336221"/>
                  </a:ext>
                </a:extLst>
              </a:tr>
              <a:tr h="374654">
                <a:tc>
                  <a:txBody>
                    <a:bodyPr/>
                    <a:lstStyle/>
                    <a:p>
                      <a:r>
                        <a:rPr lang="en-US" sz="1700"/>
                        <a:t>Mesh</a:t>
                      </a:r>
                    </a:p>
                  </a:txBody>
                  <a:tcPr marL="85149" marR="85149" marT="42574" marB="42574"/>
                </a:tc>
                <a:tc>
                  <a:txBody>
                    <a:bodyPr/>
                    <a:lstStyle/>
                    <a:p>
                      <a:r>
                        <a:rPr lang="en-US" sz="1700"/>
                        <a:t>Collocation points</a:t>
                      </a:r>
                    </a:p>
                  </a:txBody>
                  <a:tcPr marL="85149" marR="85149" marT="42574" marB="42574"/>
                </a:tc>
                <a:extLst>
                  <a:ext uri="{0D108BD9-81ED-4DB2-BD59-A6C34878D82A}">
                    <a16:rowId xmlns:a16="http://schemas.microsoft.com/office/drawing/2014/main" val="152984949"/>
                  </a:ext>
                </a:extLst>
              </a:tr>
              <a:tr h="630100">
                <a:tc>
                  <a:txBody>
                    <a:bodyPr/>
                    <a:lstStyle/>
                    <a:p>
                      <a:r>
                        <a:rPr lang="en-US" sz="1700"/>
                        <a:t>FVM discretizatrion</a:t>
                      </a:r>
                    </a:p>
                  </a:txBody>
                  <a:tcPr marL="85149" marR="85149" marT="42574" marB="42574"/>
                </a:tc>
                <a:tc>
                  <a:txBody>
                    <a:bodyPr/>
                    <a:lstStyle/>
                    <a:p>
                      <a:r>
                        <a:rPr lang="en-US" sz="1700"/>
                        <a:t>Automatic differentiation via JAX</a:t>
                      </a:r>
                    </a:p>
                  </a:txBody>
                  <a:tcPr marL="85149" marR="85149" marT="42574" marB="42574"/>
                </a:tc>
                <a:extLst>
                  <a:ext uri="{0D108BD9-81ED-4DB2-BD59-A6C34878D82A}">
                    <a16:rowId xmlns:a16="http://schemas.microsoft.com/office/drawing/2014/main" val="86595439"/>
                  </a:ext>
                </a:extLst>
              </a:tr>
              <a:tr h="630100">
                <a:tc>
                  <a:txBody>
                    <a:bodyPr/>
                    <a:lstStyle/>
                    <a:p>
                      <a:r>
                        <a:rPr lang="en-US" sz="1700"/>
                        <a:t>PISO pressure-velocity coupling</a:t>
                      </a:r>
                    </a:p>
                  </a:txBody>
                  <a:tcPr marL="85149" marR="85149" marT="42574" marB="42574"/>
                </a:tc>
                <a:tc>
                  <a:txBody>
                    <a:bodyPr/>
                    <a:lstStyle/>
                    <a:p>
                      <a:r>
                        <a:rPr lang="en-US" sz="1700"/>
                        <a:t>continuity is enforced through loss function</a:t>
                      </a:r>
                    </a:p>
                  </a:txBody>
                  <a:tcPr marL="85149" marR="85149" marT="42574" marB="42574"/>
                </a:tc>
                <a:extLst>
                  <a:ext uri="{0D108BD9-81ED-4DB2-BD59-A6C34878D82A}">
                    <a16:rowId xmlns:a16="http://schemas.microsoft.com/office/drawing/2014/main" val="1554622976"/>
                  </a:ext>
                </a:extLst>
              </a:tr>
              <a:tr h="630100">
                <a:tc>
                  <a:txBody>
                    <a:bodyPr/>
                    <a:lstStyle/>
                    <a:p>
                      <a:r>
                        <a:rPr lang="en-US" sz="1700"/>
                        <a:t>Linear solver per timestep</a:t>
                      </a:r>
                    </a:p>
                  </a:txBody>
                  <a:tcPr marL="85149" marR="85149" marT="42574" marB="42574"/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Gradient descent over all time  </a:t>
                      </a:r>
                    </a:p>
                  </a:txBody>
                  <a:tcPr marL="85149" marR="85149" marT="42574" marB="42574"/>
                </a:tc>
                <a:extLst>
                  <a:ext uri="{0D108BD9-81ED-4DB2-BD59-A6C34878D82A}">
                    <a16:rowId xmlns:a16="http://schemas.microsoft.com/office/drawing/2014/main" val="4785757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804582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60F15-EB9B-302A-A859-87B8B6C516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287" y="959028"/>
            <a:ext cx="10890929" cy="1097280"/>
          </a:xfrm>
        </p:spPr>
        <p:txBody>
          <a:bodyPr/>
          <a:lstStyle/>
          <a:p>
            <a:r>
              <a:rPr lang="en-US" dirty="0"/>
              <a:t>Solver 1: Physics-Informed Neural Networks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B55262A-29F4-2812-2596-FC2B5833BA7F}"/>
              </a:ext>
            </a:extLst>
          </p:cNvPr>
          <p:cNvSpPr txBox="1">
            <a:spLocks/>
          </p:cNvSpPr>
          <p:nvPr/>
        </p:nvSpPr>
        <p:spPr>
          <a:xfrm>
            <a:off x="826776" y="1661821"/>
            <a:ext cx="10890929" cy="548640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What are PINNs?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A5F18F-0867-C81C-0E48-71F66583E933}"/>
              </a:ext>
            </a:extLst>
          </p:cNvPr>
          <p:cNvSpPr txBox="1"/>
          <p:nvPr/>
        </p:nvSpPr>
        <p:spPr>
          <a:xfrm>
            <a:off x="1018800" y="2046681"/>
            <a:ext cx="693647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Network Architecture (MLP):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Inputs (x, y), outputs (u, v, p)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Fourier feature encoding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4 hidden layers with 128 neurons each using tanh activation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Two-phase training (Adam with cosine decay + L-BFGS)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BD1EBED-B8F3-EFBE-3A97-6C41999B76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514381"/>
            <a:ext cx="12301997" cy="334361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8546639-C282-3FBF-8FC2-F84CE43B265D}"/>
                  </a:ext>
                </a:extLst>
              </p:cNvPr>
              <p:cNvSpPr txBox="1"/>
              <p:nvPr/>
            </p:nvSpPr>
            <p:spPr>
              <a:xfrm>
                <a:off x="7572956" y="1888034"/>
                <a:ext cx="4527073" cy="228690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u="sng" dirty="0"/>
                  <a:t>Incompressible Navier Stokes equation:</a:t>
                </a:r>
              </a:p>
              <a:p>
                <a:pPr marL="742950" lvl="1" indent="-285750"/>
                <a:r>
                  <a:rPr lang="en-US" dirty="0" err="1"/>
                  <a:t>Momemtum</a:t>
                </a:r>
                <a:r>
                  <a:rPr lang="en-US" dirty="0"/>
                  <a:t> equation:</a:t>
                </a:r>
              </a:p>
              <a:p>
                <a:pPr marL="1200150" lvl="2" indent="-28575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b-NO" i="1">
                          <a:latin typeface="Cambria Math" panose="02040503050406030204" pitchFamily="18" charset="0"/>
                        </a:rPr>
                        <m:t>𝜌</m:t>
                      </m:r>
                      <m:d>
                        <m:dPr>
                          <m:ctrlPr>
                            <a:rPr lang="nb-NO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nb-NO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nb-NO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nb-NO" i="1">
                                  <a:latin typeface="Cambria Math" panose="02040503050406030204" pitchFamily="18" charset="0"/>
                                </a:rPr>
                                <m:t>𝐮</m:t>
                              </m:r>
                            </m:num>
                            <m:den>
                              <m:r>
                                <a:rPr lang="nb-NO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nb-NO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  <m:r>
                            <a:rPr lang="nb-NO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nb-NO" i="1">
                              <a:latin typeface="Cambria Math" panose="02040503050406030204" pitchFamily="18" charset="0"/>
                            </a:rPr>
                            <m:t>𝐮</m:t>
                          </m:r>
                          <m:r>
                            <a:rPr lang="nb-NO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m:rPr>
                              <m:sty m:val="p"/>
                            </m:rPr>
                            <a:rPr lang="nb-NO">
                              <a:latin typeface="Cambria Math" panose="02040503050406030204" pitchFamily="18" charset="0"/>
                            </a:rPr>
                            <m:t>∇</m:t>
                          </m:r>
                          <m:r>
                            <a:rPr lang="nb-NO" i="1">
                              <a:latin typeface="Cambria Math" panose="02040503050406030204" pitchFamily="18" charset="0"/>
                            </a:rPr>
                            <m:t>𝐮</m:t>
                          </m:r>
                        </m:e>
                      </m:d>
                      <m:r>
                        <a:rPr lang="nb-NO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m:rPr>
                          <m:sty m:val="p"/>
                        </m:rPr>
                        <a:rPr lang="nb-NO">
                          <a:latin typeface="Cambria Math" panose="02040503050406030204" pitchFamily="18" charset="0"/>
                        </a:rPr>
                        <m:t>∇</m:t>
                      </m:r>
                      <m:r>
                        <m:rPr>
                          <m:sty m:val="p"/>
                        </m:rPr>
                        <a:rPr lang="nb-NO" i="1">
                          <a:latin typeface="Cambria Math" panose="02040503050406030204" pitchFamily="18" charset="0"/>
                        </a:rPr>
                        <m:t>p</m:t>
                      </m:r>
                      <m:r>
                        <a:rPr lang="nb-NO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nb-NO" i="1">
                          <a:latin typeface="Cambria Math" panose="02040503050406030204" pitchFamily="18" charset="0"/>
                        </a:rPr>
                        <m:t>𝜇</m:t>
                      </m:r>
                      <m:sSup>
                        <m:sSupPr>
                          <m:ctrlPr>
                            <a:rPr lang="nb-NO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nb-NO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nb-NO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nb-NO" i="1">
                          <a:latin typeface="Cambria Math" panose="02040503050406030204" pitchFamily="18" charset="0"/>
                        </a:rPr>
                        <m:t>𝐮</m:t>
                      </m:r>
                    </m:oMath>
                  </m:oMathPara>
                </a14:m>
                <a:endParaRPr lang="en-US" dirty="0"/>
              </a:p>
              <a:p>
                <a:pPr marL="742950" lvl="1" indent="-285750"/>
                <a:r>
                  <a:rPr lang="nb-NO" dirty="0" err="1">
                    <a:latin typeface="Cambria Math" panose="02040503050406030204" pitchFamily="18" charset="0"/>
                  </a:rPr>
                  <a:t>Continuity</a:t>
                </a:r>
                <a:r>
                  <a:rPr lang="nb-NO" dirty="0">
                    <a:latin typeface="Cambria Math" panose="02040503050406030204" pitchFamily="18" charset="0"/>
                  </a:rPr>
                  <a:t> </a:t>
                </a:r>
                <a:r>
                  <a:rPr lang="nb-NO" dirty="0" err="1">
                    <a:latin typeface="Cambria Math" panose="02040503050406030204" pitchFamily="18" charset="0"/>
                  </a:rPr>
                  <a:t>equation</a:t>
                </a:r>
                <a:r>
                  <a:rPr lang="nb-NO" dirty="0">
                    <a:latin typeface="Cambria Math" panose="02040503050406030204" pitchFamily="18" charset="0"/>
                  </a:rPr>
                  <a:t>:</a:t>
                </a:r>
              </a:p>
              <a:p>
                <a:pPr marL="1200150" lvl="2" indent="-28575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nb-NO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nb-NO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nb-NO" i="1">
                          <a:latin typeface="Cambria Math" panose="02040503050406030204" pitchFamily="18" charset="0"/>
                        </a:rPr>
                        <m:t>𝐮</m:t>
                      </m:r>
                      <m:r>
                        <a:rPr lang="nb-NO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8546639-C282-3FBF-8FC2-F84CE43B26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2956" y="1888034"/>
                <a:ext cx="4527073" cy="2286908"/>
              </a:xfrm>
              <a:prstGeom prst="rect">
                <a:avLst/>
              </a:prstGeom>
              <a:blipFill>
                <a:blip r:embed="rId3"/>
                <a:stretch>
                  <a:fillRect l="-1120" t="-1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985180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F187FB-3826-A13A-27DE-1AD08BEE92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0535" y="1040868"/>
            <a:ext cx="10890929" cy="1097280"/>
          </a:xfrm>
        </p:spPr>
        <p:txBody>
          <a:bodyPr/>
          <a:lstStyle/>
          <a:p>
            <a:r>
              <a:rPr lang="en-US" dirty="0"/>
              <a:t>Solver 2: </a:t>
            </a:r>
            <a:r>
              <a:rPr lang="en-US" dirty="0" err="1"/>
              <a:t>OpenFoam</a:t>
            </a: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2C8DE6-7EF3-0AEF-CD88-CD8C02BCA828}"/>
              </a:ext>
            </a:extLst>
          </p:cNvPr>
          <p:cNvSpPr/>
          <p:nvPr/>
        </p:nvSpPr>
        <p:spPr>
          <a:xfrm>
            <a:off x="834715" y="2973223"/>
            <a:ext cx="10890935" cy="3411946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AF153D4-2A99-BF13-549F-DC2FE4CEDD2C}"/>
              </a:ext>
            </a:extLst>
          </p:cNvPr>
          <p:cNvSpPr txBox="1">
            <a:spLocks/>
          </p:cNvSpPr>
          <p:nvPr/>
        </p:nvSpPr>
        <p:spPr>
          <a:xfrm>
            <a:off x="1301071" y="3718229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2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A49FFFD-19DC-3295-725C-A9ECD324C75C}"/>
              </a:ext>
            </a:extLst>
          </p:cNvPr>
          <p:cNvSpPr/>
          <p:nvPr/>
        </p:nvSpPr>
        <p:spPr>
          <a:xfrm>
            <a:off x="834715" y="1813175"/>
            <a:ext cx="10890937" cy="118799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F8D099D-7725-12F5-4824-27782DD47C40}"/>
              </a:ext>
            </a:extLst>
          </p:cNvPr>
          <p:cNvSpPr txBox="1">
            <a:spLocks/>
          </p:cNvSpPr>
          <p:nvPr/>
        </p:nvSpPr>
        <p:spPr>
          <a:xfrm>
            <a:off x="834725" y="1785225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What is </a:t>
            </a:r>
            <a:r>
              <a:rPr lang="en-US" sz="3200" dirty="0" err="1"/>
              <a:t>openFoam</a:t>
            </a:r>
            <a:r>
              <a:rPr lang="en-US" sz="3200" dirty="0"/>
              <a:t>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1EE006-DAB7-9708-4FC3-B2582E84AB3B}"/>
              </a:ext>
            </a:extLst>
          </p:cNvPr>
          <p:cNvSpPr txBox="1"/>
          <p:nvPr/>
        </p:nvSpPr>
        <p:spPr>
          <a:xfrm>
            <a:off x="976420" y="2330491"/>
            <a:ext cx="61670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Transient, incompressible, laminar Navier-Stokes solver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icoFoam</a:t>
            </a:r>
            <a:r>
              <a:rPr lang="en-US" dirty="0"/>
              <a:t> solver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187DE0-1B83-2450-878A-A3A41A90E8E4}"/>
              </a:ext>
            </a:extLst>
          </p:cNvPr>
          <p:cNvSpPr txBox="1"/>
          <p:nvPr/>
        </p:nvSpPr>
        <p:spPr>
          <a:xfrm>
            <a:off x="834715" y="2965955"/>
            <a:ext cx="13276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PISO ALGO</a:t>
            </a:r>
          </a:p>
          <a:p>
            <a:endParaRPr lang="en-US" dirty="0"/>
          </a:p>
        </p:txBody>
      </p:sp>
      <p:sp>
        <p:nvSpPr>
          <p:cNvPr id="12" name="Rectangle 3">
            <a:extLst>
              <a:ext uri="{FF2B5EF4-FFF2-40B4-BE49-F238E27FC236}">
                <a16:creationId xmlns:a16="http://schemas.microsoft.com/office/drawing/2014/main" id="{3D77959E-F728-30B3-4A31-94E2C54DEE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4715" y="3245848"/>
            <a:ext cx="11126764" cy="31393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NO" altLang="en-NO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Predict velocity:</a:t>
            </a:r>
            <a:r>
              <a:rPr kumimoji="0" lang="en-NO" altLang="en-N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NO" altLang="en-NO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Solve momentum equation with current pressure, guess p* to get u**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NO" altLang="en-NO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this satisfies momentum but not continuity (∇·u** ≠ 0).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NO" altLang="en-NO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First pressure correction:</a:t>
            </a:r>
            <a:endParaRPr lang="en-NO" altLang="en-NO" dirty="0">
              <a:latin typeface="Arial" panose="020B0604020202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NO" altLang="en-NO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Solve a Poisson equation with source ∇·u** to get p’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NO" altLang="en-NO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update p** = p* + p' and correct the velocity so it satisfies continuity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NO" altLang="en-NO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but momentum is only approximate since the neighbour coupling H was dropped.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NO" altLang="en-NO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Second pressure correction:</a:t>
            </a:r>
            <a:r>
              <a:rPr kumimoji="0" lang="en-NO" altLang="en-N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NO" altLang="en-NO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 the momentum imbalance H(u** − u*)/d as a source for a second Poisson solve for p’’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NO" altLang="en-NO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giving a velocity and pressure that satisfy both continuity and momentum to much higher accuracy.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NO" altLang="en-NO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Advance:</a:t>
            </a:r>
            <a:r>
              <a:rPr kumimoji="0" lang="en-NO" altLang="en-N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Set u* ← u***, p* ← p*** and move to the next time step. </a:t>
            </a:r>
            <a:r>
              <a:rPr lang="en-NO" altLang="en-NO" dirty="0">
                <a:latin typeface="Arial" panose="020B0604020202020204" pitchFamily="34" charset="0"/>
              </a:rPr>
              <a:t>N</a:t>
            </a:r>
            <a:r>
              <a:rPr kumimoji="0" lang="en-NO" altLang="en-N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 outer iteration loop, unlike SIMPLE.</a:t>
            </a:r>
          </a:p>
        </p:txBody>
      </p:sp>
    </p:spTree>
    <p:extLst>
      <p:ext uri="{BB962C8B-B14F-4D97-AF65-F5344CB8AC3E}">
        <p14:creationId xmlns:p14="http://schemas.microsoft.com/office/powerpoint/2010/main" val="14636970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7584D-07CB-C7B7-168B-8E97E37DD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621274"/>
            <a:ext cx="3621024" cy="1271015"/>
          </a:xfrm>
        </p:spPr>
        <p:txBody>
          <a:bodyPr>
            <a:normAutofit fontScale="90000"/>
          </a:bodyPr>
          <a:lstStyle/>
          <a:p>
            <a:r>
              <a:rPr lang="en-US" dirty="0"/>
              <a:t>Test Cases Overview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D130E5-380B-D98A-9EB4-EE8C61D94AF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55882" y="4705373"/>
                <a:ext cx="4759234" cy="2083671"/>
              </a:xfrm>
            </p:spPr>
            <p:txBody>
              <a:bodyPr/>
              <a:lstStyle/>
              <a:p>
                <a:r>
                  <a:rPr lang="en-US" b="1" u="sng" dirty="0"/>
                  <a:t>Taylor green vortex benchmark</a:t>
                </a:r>
              </a:p>
              <a:p>
                <a:pPr lvl="1"/>
                <a:r>
                  <a:rPr lang="en-US" dirty="0"/>
                  <a:t>Exact solution: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nb-NO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nb-NO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nb-NO" b="0" i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nb-NO" b="0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nb-NO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b-NO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func>
                    <m:func>
                      <m:func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b-NO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nb-NO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b-NO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</m:e>
                    </m:func>
                    <m:sSup>
                      <m:sSup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𝜈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nb-NO" b="0" i="1" dirty="0">
                  <a:latin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r>
                      <a:rPr lang="nb-NO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nb-NO" b="0" i="1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nb-NO" b="0" i="1" smtClean="0">
                        <a:latin typeface="Cambria Math" panose="02040503050406030204" pitchFamily="18" charset="0"/>
                      </a:rPr>
                      <m:t>y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nb-NO" b="0" i="1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𝑐𝑜𝑠</m:t>
                    </m:r>
                    <m:d>
                      <m:d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nb-NO" b="0" i="1" smtClean="0">
                        <a:latin typeface="Cambria Math" panose="02040503050406030204" pitchFamily="18" charset="0"/>
                      </a:rPr>
                      <m:t>𝑠𝑖𝑛</m:t>
                    </m:r>
                    <m:d>
                      <m:d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sSup>
                      <m:sSup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𝜈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nb-NO" b="0" i="1" dirty="0">
                  <a:latin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r>
                      <a:rPr lang="nb-NO" b="0" i="1" dirty="0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nb-NO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nb-NO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nb-NO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nb-NO" b="0" i="1" dirty="0" smtClean="0">
                        <a:latin typeface="Cambria Math" panose="02040503050406030204" pitchFamily="18" charset="0"/>
                      </a:rPr>
                      <m:t>𝜌</m:t>
                    </m:r>
                    <m:d>
                      <m:dPr>
                        <m:ctrlPr>
                          <a:rPr lang="nb-NO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𝑐𝑜𝑠</m:t>
                        </m:r>
                        <m:d>
                          <m:dPr>
                            <m:ctrlPr>
                              <a:rPr lang="nb-NO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b-NO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nb-NO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𝑐𝑜𝑠</m:t>
                        </m:r>
                        <m:d>
                          <m:dPr>
                            <m:ctrlPr>
                              <a:rPr lang="nb-NO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b-NO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nb-NO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</m:e>
                    </m:d>
                    <m:sSup>
                      <m:sSupPr>
                        <m:ctrlPr>
                          <a:rPr lang="nb-NO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−4</m:t>
                        </m:r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𝜈</m:t>
                        </m:r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nb-NO" b="0" i="1" dirty="0">
                  <a:latin typeface="Cambria Math" panose="02040503050406030204" pitchFamily="18" charset="0"/>
                </a:endParaRPr>
              </a:p>
              <a:p>
                <a:pPr lvl="2"/>
                <a:endParaRPr lang="nb-NO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D130E5-380B-D98A-9EB4-EE8C61D94A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5882" y="4705373"/>
                <a:ext cx="4759234" cy="2083671"/>
              </a:xfrm>
              <a:blipFill>
                <a:blip r:embed="rId2"/>
                <a:stretch>
                  <a:fillRect l="-8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6652015B-02B6-38A7-556B-E374E68161AA}"/>
              </a:ext>
            </a:extLst>
          </p:cNvPr>
          <p:cNvSpPr txBox="1"/>
          <p:nvPr/>
        </p:nvSpPr>
        <p:spPr>
          <a:xfrm>
            <a:off x="8430259" y="4705373"/>
            <a:ext cx="24881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/>
              <a:t>Backward-Facing Step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85A21F-05D6-70D7-2FC3-9BB837CD769E}"/>
              </a:ext>
            </a:extLst>
          </p:cNvPr>
          <p:cNvSpPr txBox="1"/>
          <p:nvPr/>
        </p:nvSpPr>
        <p:spPr>
          <a:xfrm>
            <a:off x="4915116" y="4705373"/>
            <a:ext cx="33395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Lid Driven Cavity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288C9E2-D617-53AF-BDB8-5BBF749F78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4196" y="60221"/>
            <a:ext cx="8510917" cy="464515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0A9DD68-A38D-BD3D-5A29-959CFC7FE5A8}"/>
                  </a:ext>
                </a:extLst>
              </p:cNvPr>
              <p:cNvSpPr txBox="1"/>
              <p:nvPr/>
            </p:nvSpPr>
            <p:spPr>
              <a:xfrm>
                <a:off x="5090710" y="5074705"/>
                <a:ext cx="307792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Moving lid </a:t>
                </a:r>
                <a:endParaRPr lang="nb-NO" b="0" i="1" dirty="0">
                  <a:latin typeface="Cambria Math" panose="02040503050406030204" pitchFamily="18" charset="0"/>
                </a:endParaRP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nb-NO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nb-NO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b-NO" b="0" i="1" smtClean="0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nb-NO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  <m:sup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p>
                      <m:sSup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nb-NO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b-NO" b="0" i="1" smtClean="0">
                                <a:latin typeface="Cambria Math" panose="02040503050406030204" pitchFamily="18" charset="0"/>
                              </a:rPr>
                              <m:t>1+</m:t>
                            </m:r>
                            <m:r>
                              <a:rPr lang="nb-NO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  <m:sup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No slip on 3 walls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0A9DD68-A38D-BD3D-5A29-959CFC7FE5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0710" y="5074705"/>
                <a:ext cx="3077929" cy="1200329"/>
              </a:xfrm>
              <a:prstGeom prst="rect">
                <a:avLst/>
              </a:prstGeom>
              <a:blipFill>
                <a:blip r:embed="rId4"/>
                <a:stretch>
                  <a:fillRect l="-1230" t="-2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2C4706F2-558E-3451-0A18-48E301BB40B2}"/>
              </a:ext>
            </a:extLst>
          </p:cNvPr>
          <p:cNvSpPr txBox="1"/>
          <p:nvPr/>
        </p:nvSpPr>
        <p:spPr>
          <a:xfrm>
            <a:off x="8430259" y="5273457"/>
            <a:ext cx="275748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Parabolic inlet velocity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 slip walls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9144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DB60A1-D5E3-B0BD-9F22-7160CF5A8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3109" y="1200647"/>
            <a:ext cx="3498574" cy="2981729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 sz="4800" dirty="0"/>
              <a:t>Taylor Green Vortex Benchmark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3EA313C1-9C75-78D0-D446-7D0ECF3B5E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0953" y="3445099"/>
            <a:ext cx="8211047" cy="334600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12D5033A-E2A0-7823-1841-DB58317AE8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263" y="148843"/>
            <a:ext cx="8049467" cy="3280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65166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984D7-D2CE-D5F3-4D33-71550CF3C5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0"/>
            <a:ext cx="3236977" cy="2295143"/>
          </a:xfrm>
        </p:spPr>
        <p:txBody>
          <a:bodyPr/>
          <a:lstStyle/>
          <a:p>
            <a:r>
              <a:rPr lang="en-US" dirty="0"/>
              <a:t>Lid Driven Cavity Results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696B09E-3EFF-2692-B0EA-E08A0D50C2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5099" y="579120"/>
            <a:ext cx="9214041" cy="627888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88A3C05-DED7-EE27-23C9-D4C43B8314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098" y="579120"/>
            <a:ext cx="9156901" cy="625453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4F18657-8DED-0744-2D73-C85F114C3E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5097" y="579119"/>
            <a:ext cx="9156900" cy="6269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5544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63064F7-C31C-C697-7A86-A1E5E667BE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90481" y="818985"/>
            <a:ext cx="8133852" cy="5380204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60AA165-C119-1ED7-6F4E-A8F2F3ED3FEE}"/>
              </a:ext>
            </a:extLst>
          </p:cNvPr>
          <p:cNvSpPr txBox="1">
            <a:spLocks/>
          </p:cNvSpPr>
          <p:nvPr/>
        </p:nvSpPr>
        <p:spPr>
          <a:xfrm>
            <a:off x="640079" y="1371600"/>
            <a:ext cx="3236977" cy="229514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Lid Driven Cavity Results</a:t>
            </a:r>
          </a:p>
        </p:txBody>
      </p:sp>
    </p:spTree>
    <p:extLst>
      <p:ext uri="{BB962C8B-B14F-4D97-AF65-F5344CB8AC3E}">
        <p14:creationId xmlns:p14="http://schemas.microsoft.com/office/powerpoint/2010/main" val="31405684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7AB1D0-D432-0681-DC5F-EC7CBCF7AC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57864" y="125205"/>
            <a:ext cx="9476936" cy="2688335"/>
          </a:xfrm>
        </p:spPr>
        <p:txBody>
          <a:bodyPr/>
          <a:lstStyle/>
          <a:p>
            <a:r>
              <a:rPr lang="en-US" dirty="0"/>
              <a:t>Backward-Facing Step Results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9C47A1-DEA1-3AC2-AEF0-142064BBA1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891" y="1079646"/>
            <a:ext cx="12012218" cy="57912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58246FF-74D8-7D84-C772-E6ED9F448A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85656"/>
            <a:ext cx="12102109" cy="58290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A86C0FF-A705-B78C-03F6-F4561D2F6C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45" y="985656"/>
            <a:ext cx="12012218" cy="5785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76281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F9A454F1-F659-AC8C-99E4-F200D0C3E218}"/>
              </a:ext>
            </a:extLst>
          </p:cNvPr>
          <p:cNvSpPr txBox="1">
            <a:spLocks/>
          </p:cNvSpPr>
          <p:nvPr/>
        </p:nvSpPr>
        <p:spPr>
          <a:xfrm>
            <a:off x="2257864" y="125205"/>
            <a:ext cx="9476936" cy="26883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Backward-Facing Step Results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F3DFE25-A4D4-389A-0B14-E3908F78A4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00" y="2014826"/>
            <a:ext cx="11563300" cy="3559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22992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E32BB-25E9-27ED-B610-6A5E47A25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682AEC4-FD76-D9F8-E395-31D44C34CC86}"/>
              </a:ext>
            </a:extLst>
          </p:cNvPr>
          <p:cNvSpPr txBox="1"/>
          <p:nvPr/>
        </p:nvSpPr>
        <p:spPr>
          <a:xfrm>
            <a:off x="640079" y="2642992"/>
            <a:ext cx="726384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Accuracy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Computationally expensive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Finding the correct network parameters and architecture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57405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621CC-814A-D7A9-4BBC-27FE0D2359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PINNs Have the Edge?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FB0AE1-E1B2-DF18-6812-E362C1D6E170}"/>
              </a:ext>
            </a:extLst>
          </p:cNvPr>
          <p:cNvSpPr txBox="1"/>
          <p:nvPr/>
        </p:nvSpPr>
        <p:spPr>
          <a:xfrm>
            <a:off x="1078992" y="2099549"/>
            <a:ext cx="77602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Inverse problem for the backward step setup: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0BC2DA2B-A63F-973C-7EBB-8F512A4EC0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615281" y="2708275"/>
            <a:ext cx="8940800" cy="34163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0C0B027-8142-6B67-568C-769B7F844CEB}"/>
              </a:ext>
            </a:extLst>
          </p:cNvPr>
          <p:cNvSpPr txBox="1"/>
          <p:nvPr/>
        </p:nvSpPr>
        <p:spPr>
          <a:xfrm>
            <a:off x="6340941" y="6124575"/>
            <a:ext cx="5190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X-axis scatter is inaccurate for </a:t>
            </a:r>
            <a:r>
              <a:rPr lang="en-US" dirty="0" err="1"/>
              <a:t>visability</a:t>
            </a:r>
            <a:r>
              <a:rPr lang="en-US" dirty="0"/>
              <a:t> reasons </a:t>
            </a:r>
          </a:p>
        </p:txBody>
      </p:sp>
    </p:spTree>
    <p:extLst>
      <p:ext uri="{BB962C8B-B14F-4D97-AF65-F5344CB8AC3E}">
        <p14:creationId xmlns:p14="http://schemas.microsoft.com/office/powerpoint/2010/main" val="18614284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744CAA32-F237-419C-A2DD-43C28D920D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4E9AA2D-D8BC-9FBA-568C-9089539EAC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737859" cy="1097280"/>
          </a:xfrm>
        </p:spPr>
        <p:txBody>
          <a:bodyPr>
            <a:normAutofit/>
          </a:bodyPr>
          <a:lstStyle/>
          <a:p>
            <a:r>
              <a:rPr lang="en-US" dirty="0"/>
              <a:t>Conclusion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53FE100-D0AB-4AE2-824B-60CFA31EC6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747A52-6C3E-D967-E643-A05597C6FE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236"/>
            <a:ext cx="5737860" cy="3666980"/>
          </a:xfrm>
        </p:spPr>
        <p:txBody>
          <a:bodyPr>
            <a:normAutofit/>
          </a:bodyPr>
          <a:lstStyle/>
          <a:p>
            <a:r>
              <a:rPr lang="en-US" dirty="0"/>
              <a:t>Does not replace traditional time stepping methods – rather an additional tool</a:t>
            </a:r>
          </a:p>
          <a:p>
            <a:r>
              <a:rPr lang="en-US" dirty="0"/>
              <a:t>PINN accuracy decreases as Re increases</a:t>
            </a:r>
          </a:p>
          <a:p>
            <a:r>
              <a:rPr lang="en-US" dirty="0"/>
              <a:t>PINNs perform better on a simple grid</a:t>
            </a:r>
          </a:p>
          <a:p>
            <a:r>
              <a:rPr lang="en-US" dirty="0"/>
              <a:t>PINNs struggle with sharp gradients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FE34C91-F763-5445-A5A2-5DF16B74A5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1200" y="1371600"/>
            <a:ext cx="6297267" cy="4581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5894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34A3D-9B68-F4A9-8100-1A16FBBEB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375454-CFF5-7FE0-0FD0-98EEF2DAAE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NO" dirty="0"/>
              <a:t>First PINN paper:</a:t>
            </a:r>
          </a:p>
          <a:p>
            <a:pPr lvl="1"/>
            <a:r>
              <a:rPr lang="en-NO" dirty="0"/>
              <a:t>M. Raissi, P. Perdikaris, and G. E. Karniadakis, "Physics-informed neural networks: A deep learning framework for solving forward and inverse problems involving nonlinear partial differential equations," </a:t>
            </a:r>
            <a:r>
              <a:rPr lang="en-NO" i="1" dirty="0"/>
              <a:t>Journal of Computational Physics</a:t>
            </a:r>
            <a:r>
              <a:rPr lang="en-NO" dirty="0"/>
              <a:t>, vol. 378, pp. 686–707, 2019.</a:t>
            </a:r>
          </a:p>
          <a:p>
            <a:r>
              <a:rPr lang="en-NO" dirty="0"/>
              <a:t>Article for training PINNS:</a:t>
            </a:r>
          </a:p>
          <a:p>
            <a:pPr lvl="1"/>
            <a:r>
              <a:rPr lang="en-NO" dirty="0"/>
              <a:t>S. Wang, S. Sankaran, H. Wang, and P. Perdikaris, "An Expert's Guide to Training Physics-Informed Neural Networks," </a:t>
            </a:r>
            <a:r>
              <a:rPr lang="en-NO" i="1" dirty="0"/>
              <a:t>arXiv preprint</a:t>
            </a:r>
            <a:r>
              <a:rPr lang="en-NO" dirty="0"/>
              <a:t> arXiv:2308.08468, 2023.</a:t>
            </a:r>
          </a:p>
          <a:p>
            <a:r>
              <a:rPr lang="en-NO" dirty="0"/>
              <a:t>CFD book:</a:t>
            </a:r>
          </a:p>
          <a:p>
            <a:pPr lvl="1"/>
            <a:r>
              <a:rPr lang="en-NO" dirty="0"/>
              <a:t>H. K. Versteeg and W. Malalasekera, </a:t>
            </a:r>
            <a:r>
              <a:rPr lang="en-NO" i="1" dirty="0"/>
              <a:t>An Introduction to Computational Fluid Dynamics: The Finite Volume Method</a:t>
            </a:r>
            <a:r>
              <a:rPr lang="en-NO" dirty="0"/>
              <a:t>, 2nd ed. Harlow, England: Pearson Education Limited, 2007.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0686654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43019</TotalTime>
  <Words>617</Words>
  <Application>Microsoft Macintosh PowerPoint</Application>
  <PresentationFormat>Widescreen</PresentationFormat>
  <Paragraphs>92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Cambria Math</vt:lpstr>
      <vt:lpstr>Grandview Display</vt:lpstr>
      <vt:lpstr>DashVTI</vt:lpstr>
      <vt:lpstr>No Mesh?  No Problem - openFoam meets PINNs</vt:lpstr>
      <vt:lpstr>What are PINNs, and why use them?</vt:lpstr>
      <vt:lpstr>Solver 1: Physics-Informed Neural Networks</vt:lpstr>
      <vt:lpstr>Solver 2: OpenFoam</vt:lpstr>
      <vt:lpstr>Test Cases Overview</vt:lpstr>
      <vt:lpstr>Taylor Green Vortex Benchmark</vt:lpstr>
      <vt:lpstr>Lid Driven Cavity Results</vt:lpstr>
      <vt:lpstr>PowerPoint Presentation</vt:lpstr>
      <vt:lpstr>Backward-Facing Step Results</vt:lpstr>
      <vt:lpstr>PowerPoint Presentation</vt:lpstr>
      <vt:lpstr>Limitations</vt:lpstr>
      <vt:lpstr>Where PINNs Have the Edge?</vt:lpstr>
      <vt:lpstr>Conclusion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Henrik Haug</dc:creator>
  <cp:lastModifiedBy>Henrik Haug</cp:lastModifiedBy>
  <cp:revision>13</cp:revision>
  <dcterms:created xsi:type="dcterms:W3CDTF">2026-05-05T09:03:26Z</dcterms:created>
  <dcterms:modified xsi:type="dcterms:W3CDTF">2026-06-08T07:27:59Z</dcterms:modified>
</cp:coreProperties>
</file>