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</p:sldMasterIdLst>
  <p:sldIdLst>
    <p:sldId id="256" r:id="rId2"/>
    <p:sldId id="271" r:id="rId3"/>
    <p:sldId id="265" r:id="rId4"/>
    <p:sldId id="260" r:id="rId5"/>
    <p:sldId id="257" r:id="rId6"/>
    <p:sldId id="258" r:id="rId7"/>
    <p:sldId id="267" r:id="rId8"/>
    <p:sldId id="268" r:id="rId9"/>
    <p:sldId id="261" r:id="rId10"/>
    <p:sldId id="275" r:id="rId11"/>
    <p:sldId id="272" r:id="rId12"/>
    <p:sldId id="274" r:id="rId13"/>
    <p:sldId id="262" r:id="rId14"/>
    <p:sldId id="263" r:id="rId15"/>
    <p:sldId id="264" r:id="rId16"/>
    <p:sldId id="273" r:id="rId17"/>
  </p:sldIdLst>
  <p:sldSz cx="12192000" cy="6858000"/>
  <p:notesSz cx="6858000" cy="9144000"/>
  <p:defaultTextStyle>
    <a:defPPr>
      <a:defRPr lang="en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F88E"/>
    <a:srgbClr val="BEF58C"/>
    <a:srgbClr val="B0E4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73"/>
    <p:restoredTop sz="95602"/>
  </p:normalViewPr>
  <p:slideViewPr>
    <p:cSldViewPr snapToGrid="0">
      <p:cViewPr varScale="1">
        <p:scale>
          <a:sx n="160" d="100"/>
          <a:sy n="160" d="100"/>
        </p:scale>
        <p:origin x="208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312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2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798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636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5/28/26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68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5/28/26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122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5/28/26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295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708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555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032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720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457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8" r:id="rId6"/>
    <p:sldLayoutId id="2147483693" r:id="rId7"/>
    <p:sldLayoutId id="2147483694" r:id="rId8"/>
    <p:sldLayoutId id="2147483695" r:id="rId9"/>
    <p:sldLayoutId id="2147483697" r:id="rId10"/>
    <p:sldLayoutId id="2147483696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FD1D2CD-954D-4C4D-B505-05EAD159B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67165D-2A79-28F3-FDB3-DC75D70F6E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117" y="952500"/>
            <a:ext cx="4124557" cy="352425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900" noProof="1"/>
              <a:t>No Mesh? </a:t>
            </a:r>
            <a:br>
              <a:rPr lang="en-US" sz="4900" noProof="1"/>
            </a:br>
            <a:r>
              <a:rPr lang="en-US" sz="4900" noProof="1"/>
              <a:t>No Problem</a:t>
            </a:r>
            <a:br>
              <a:rPr lang="en-US" sz="4900" noProof="1"/>
            </a:br>
            <a:r>
              <a:rPr lang="en-US" sz="4900" noProof="1"/>
              <a:t>-</a:t>
            </a:r>
            <a:br>
              <a:rPr lang="en-US" sz="4900" noProof="1"/>
            </a:br>
            <a:r>
              <a:rPr lang="en-US" sz="4900" noProof="1"/>
              <a:t>openFoam meets PINNs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B1DB6-FD92-286B-5C10-6E9619267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118" y="5374291"/>
            <a:ext cx="4057882" cy="972532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500" noProof="1"/>
              <a:t>In Navier Stokes incompressible laminar flows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2D508B3-A66C-833E-D929-8DC211635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2088" y="4882722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DE6E991-9022-6CAC-F3DD-AE40F70898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31" r="17091"/>
          <a:stretch>
            <a:fillRect/>
          </a:stretch>
        </p:blipFill>
        <p:spPr>
          <a:xfrm>
            <a:off x="5261956" y="10"/>
            <a:ext cx="6930043" cy="6857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6A191-0859-B998-90CC-1D0A200B5994}"/>
              </a:ext>
            </a:extLst>
          </p:cNvPr>
          <p:cNvSpPr txBox="1"/>
          <p:nvPr/>
        </p:nvSpPr>
        <p:spPr>
          <a:xfrm>
            <a:off x="150920" y="6454066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Mek4470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A10216-56D3-097C-A61E-77DF068058B6}"/>
              </a:ext>
            </a:extLst>
          </p:cNvPr>
          <p:cNvSpPr txBox="1"/>
          <p:nvPr/>
        </p:nvSpPr>
        <p:spPr>
          <a:xfrm>
            <a:off x="3808520" y="6471821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Henrik Haug</a:t>
            </a:r>
          </a:p>
        </p:txBody>
      </p:sp>
    </p:spTree>
    <p:extLst>
      <p:ext uri="{BB962C8B-B14F-4D97-AF65-F5344CB8AC3E}">
        <p14:creationId xmlns:p14="http://schemas.microsoft.com/office/powerpoint/2010/main" val="31722466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6E100-0178-F2CD-97F0-B366FB7AE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PINNs?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0FCFF-EC2E-15EE-8815-E5894E1EE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58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FA5AD-57F9-048D-4E4C-6A7F8C59F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Governing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1F6078-B32A-E9E8-4975-AF0B0A9928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u="sng" dirty="0"/>
                  <a:t>Incompressible Navier Stokes equation:</a:t>
                </a:r>
              </a:p>
              <a:p>
                <a:pPr marL="742950" lvl="1" indent="-285750"/>
                <a:r>
                  <a:rPr lang="en-US" dirty="0" err="1"/>
                  <a:t>Momemtum</a:t>
                </a:r>
                <a:r>
                  <a:rPr lang="en-US" dirty="0"/>
                  <a:t> equation:</a:t>
                </a:r>
              </a:p>
              <a:p>
                <a:pPr marL="1200150" lvl="2" indent="-285750"/>
                <a14:m>
                  <m:oMath xmlns:m="http://schemas.openxmlformats.org/officeDocument/2006/math">
                    <m:r>
                      <a:rPr lang="nb-NO" i="1"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nb-NO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nb-NO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num>
                          <m:den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  <m:r>
                          <a:rPr lang="nb-NO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nb-NO" i="1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nb-NO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nb-NO">
                            <a:latin typeface="Cambria Math" panose="02040503050406030204" pitchFamily="18" charset="0"/>
                          </a:rPr>
                          <m:t>∇</m:t>
                        </m:r>
                        <m:r>
                          <a:rPr lang="nb-NO" i="1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</m:d>
                    <m:r>
                      <a:rPr lang="nb-NO" i="1">
                        <a:latin typeface="Cambria Math" panose="02040503050406030204" pitchFamily="18" charset="0"/>
                      </a:rPr>
                      <m:t>=−</m:t>
                    </m:r>
                    <m:r>
                      <m:rPr>
                        <m:sty m:val="p"/>
                      </m:rPr>
                      <a:rPr lang="nb-NO">
                        <a:latin typeface="Cambria Math" panose="02040503050406030204" pitchFamily="18" charset="0"/>
                      </a:rPr>
                      <m:t>∇</m:t>
                    </m:r>
                    <m:r>
                      <m:rPr>
                        <m:sty m:val="p"/>
                      </m:rPr>
                      <a:rPr lang="nb-NO" i="1">
                        <a:latin typeface="Cambria Math" panose="02040503050406030204" pitchFamily="18" charset="0"/>
                      </a:rPr>
                      <m:t>p</m:t>
                    </m:r>
                    <m:r>
                      <a:rPr lang="nb-NO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nb-NO" i="1">
                        <a:latin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nb-NO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nb-NO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nb-NO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b-NO" i="1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endParaRPr lang="en-US" dirty="0"/>
              </a:p>
              <a:p>
                <a:pPr marL="742950" lvl="1" indent="-285750"/>
                <a:r>
                  <a:rPr lang="nb-NO" dirty="0" err="1">
                    <a:latin typeface="Cambria Math" panose="02040503050406030204" pitchFamily="18" charset="0"/>
                  </a:rPr>
                  <a:t>Continuity</a:t>
                </a:r>
                <a:r>
                  <a:rPr lang="nb-NO" dirty="0">
                    <a:latin typeface="Cambria Math" panose="02040503050406030204" pitchFamily="18" charset="0"/>
                  </a:rPr>
                  <a:t> </a:t>
                </a:r>
                <a:r>
                  <a:rPr lang="nb-NO" dirty="0" err="1">
                    <a:latin typeface="Cambria Math" panose="02040503050406030204" pitchFamily="18" charset="0"/>
                  </a:rPr>
                  <a:t>equation</a:t>
                </a:r>
                <a:r>
                  <a:rPr lang="nb-NO" dirty="0">
                    <a:latin typeface="Cambria Math" panose="02040503050406030204" pitchFamily="18" charset="0"/>
                  </a:rPr>
                  <a:t>:</a:t>
                </a:r>
              </a:p>
              <a:p>
                <a:pPr marL="1200150" lvl="2" indent="-285750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>
                        <a:latin typeface="Cambria Math" panose="02040503050406030204" pitchFamily="18" charset="0"/>
                      </a:rPr>
                      <m:t>∇</m:t>
                    </m:r>
                    <m:r>
                      <a:rPr lang="nb-NO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nb-NO" i="1">
                        <a:latin typeface="Cambria Math" panose="02040503050406030204" pitchFamily="18" charset="0"/>
                      </a:rPr>
                      <m:t>𝐮</m:t>
                    </m:r>
                    <m:r>
                      <a:rPr lang="nb-NO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1F6078-B32A-E9E8-4975-AF0B0A9928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9239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7584D-07CB-C7B7-168B-8E97E37DD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21274"/>
            <a:ext cx="3621024" cy="1271015"/>
          </a:xfrm>
        </p:spPr>
        <p:txBody>
          <a:bodyPr>
            <a:normAutofit fontScale="90000"/>
          </a:bodyPr>
          <a:lstStyle/>
          <a:p>
            <a:r>
              <a:rPr lang="en-US" dirty="0"/>
              <a:t>Test Cases Overview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D130E5-380B-D98A-9EB4-EE8C61D94A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5882" y="4705373"/>
                <a:ext cx="4759234" cy="2083671"/>
              </a:xfrm>
            </p:spPr>
            <p:txBody>
              <a:bodyPr/>
              <a:lstStyle/>
              <a:p>
                <a:r>
                  <a:rPr lang="en-US" b="1" u="sng" dirty="0"/>
                  <a:t>Taylor green vortex benchmark</a:t>
                </a:r>
              </a:p>
              <a:p>
                <a:pPr lvl="1"/>
                <a:r>
                  <a:rPr lang="en-US" dirty="0"/>
                  <a:t>Exact solution: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nb-NO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nb-NO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func>
                      <m:func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b-NO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func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nb-NO" b="0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nb-NO" b="0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nb-NO" b="0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nb-NO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𝑐𝑜𝑠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nb-NO" b="0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nb-NO" b="0" i="1" dirty="0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nb-NO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nb-NO" b="0" i="1" dirty="0" smtClean="0"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d>
                          <m:dPr>
                            <m:ctrlP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d>
                          <m:dPr>
                            <m:ctrlP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−4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nb-NO" b="0" i="1" dirty="0">
                  <a:latin typeface="Cambria Math" panose="02040503050406030204" pitchFamily="18" charset="0"/>
                </a:endParaRPr>
              </a:p>
              <a:p>
                <a:pPr lvl="2"/>
                <a:endParaRPr lang="nb-NO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D130E5-380B-D98A-9EB4-EE8C61D94A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5882" y="4705373"/>
                <a:ext cx="4759234" cy="2083671"/>
              </a:xfrm>
              <a:blipFill>
                <a:blip r:embed="rId2"/>
                <a:stretch>
                  <a:fillRect l="-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6652015B-02B6-38A7-556B-E374E68161AA}"/>
              </a:ext>
            </a:extLst>
          </p:cNvPr>
          <p:cNvSpPr txBox="1"/>
          <p:nvPr/>
        </p:nvSpPr>
        <p:spPr>
          <a:xfrm>
            <a:off x="8430259" y="4705373"/>
            <a:ext cx="24881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Backward-Facing Step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85A21F-05D6-70D7-2FC3-9BB837CD769E}"/>
              </a:ext>
            </a:extLst>
          </p:cNvPr>
          <p:cNvSpPr txBox="1"/>
          <p:nvPr/>
        </p:nvSpPr>
        <p:spPr>
          <a:xfrm>
            <a:off x="4915116" y="4705373"/>
            <a:ext cx="3339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Lid Driven Cavity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88C9E2-D617-53AF-BDB8-5BBF749F7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4196" y="60221"/>
            <a:ext cx="8510917" cy="4645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9144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187FB-3826-A13A-27DE-1AD08BEE9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Solver 1: </a:t>
            </a:r>
            <a:r>
              <a:rPr lang="en-US" dirty="0" err="1"/>
              <a:t>OpenFoam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2C8DE6-7EF3-0AEF-CD88-CD8C02BCA828}"/>
              </a:ext>
            </a:extLst>
          </p:cNvPr>
          <p:cNvSpPr/>
          <p:nvPr/>
        </p:nvSpPr>
        <p:spPr>
          <a:xfrm>
            <a:off x="1301069" y="3840479"/>
            <a:ext cx="10890931" cy="2550382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36C5A-0001-B896-535C-4B8834009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1069" y="4434839"/>
            <a:ext cx="10890929" cy="188644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Integrate PDEs over each control volume (cell)</a:t>
            </a:r>
          </a:p>
          <a:p>
            <a:r>
              <a:rPr lang="en-US" dirty="0"/>
              <a:t>Apply Gauss’ Divergence theorem to convert volume integral to surface integral</a:t>
            </a:r>
          </a:p>
          <a:p>
            <a:r>
              <a:rPr lang="en-US" dirty="0"/>
              <a:t>Momentum equation becomes a linear system per timestep</a:t>
            </a:r>
          </a:p>
          <a:p>
            <a:r>
              <a:rPr lang="en-US" dirty="0"/>
              <a:t>Pressure emerges from continuity.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F153D4-2A99-BF13-549F-DC2FE4CEDD2C}"/>
              </a:ext>
            </a:extLst>
          </p:cNvPr>
          <p:cNvSpPr txBox="1">
            <a:spLocks/>
          </p:cNvSpPr>
          <p:nvPr/>
        </p:nvSpPr>
        <p:spPr>
          <a:xfrm>
            <a:off x="1301071" y="3718229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Finite Volume Discretization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49FFFD-19DC-3295-725C-A9ECD324C75C}"/>
              </a:ext>
            </a:extLst>
          </p:cNvPr>
          <p:cNvSpPr/>
          <p:nvPr/>
        </p:nvSpPr>
        <p:spPr>
          <a:xfrm>
            <a:off x="1301069" y="2057400"/>
            <a:ext cx="10890931" cy="16608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F8D099D-7725-12F5-4824-27782DD47C40}"/>
              </a:ext>
            </a:extLst>
          </p:cNvPr>
          <p:cNvSpPr txBox="1">
            <a:spLocks/>
          </p:cNvSpPr>
          <p:nvPr/>
        </p:nvSpPr>
        <p:spPr>
          <a:xfrm>
            <a:off x="1301070" y="2057400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What is </a:t>
            </a:r>
            <a:r>
              <a:rPr lang="en-US" sz="3200" dirty="0" err="1"/>
              <a:t>openFoam</a:t>
            </a:r>
            <a:r>
              <a:rPr lang="en-US" sz="3200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1EE006-DAB7-9708-4FC3-B2582E84AB3B}"/>
                  </a:ext>
                </a:extLst>
              </p:cNvPr>
              <p:cNvSpPr txBox="1"/>
              <p:nvPr/>
            </p:nvSpPr>
            <p:spPr>
              <a:xfrm>
                <a:off x="1497628" y="2754140"/>
                <a:ext cx="6167073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Transient, incompressible, laminar Navier-Stokes solver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Cell-centered u and p with fluxes defined at faces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Continuity </a:t>
                </a:r>
                <a14:m>
                  <m:oMath xmlns:m="http://schemas.openxmlformats.org/officeDocument/2006/math">
                    <m:r>
                      <a:rPr lang="nb-NO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nb-NO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 ⋅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r>
                  <a:rPr lang="en-US" dirty="0"/>
                  <a:t> introduces coupling challenge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1EE006-DAB7-9708-4FC3-B2582E84A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628" y="2754140"/>
                <a:ext cx="6167073" cy="923330"/>
              </a:xfrm>
              <a:prstGeom prst="rect">
                <a:avLst/>
              </a:prstGeom>
              <a:blipFill>
                <a:blip r:embed="rId2"/>
                <a:stretch>
                  <a:fillRect l="-823" t="-2703"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8187DE0-1B83-2450-878A-A3A41A90E8E4}"/>
                  </a:ext>
                </a:extLst>
              </p:cNvPr>
              <p:cNvSpPr txBox="1"/>
              <p:nvPr/>
            </p:nvSpPr>
            <p:spPr>
              <a:xfrm>
                <a:off x="5221224" y="1073829"/>
                <a:ext cx="8700523" cy="22441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PISO ALGO</a:t>
                </a:r>
              </a:p>
              <a:p>
                <a:r>
                  <a:rPr lang="en-US" dirty="0"/>
                  <a:t>Predictor: solve momentum equation with lagged pressure.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b-NO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nb-NO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is not divergence free.</a:t>
                </a:r>
              </a:p>
              <a:p>
                <a:r>
                  <a:rPr lang="en-US" dirty="0"/>
                  <a:t>Pressure solve: Poisson equation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>
                        <a:latin typeface="Cambria Math" panose="02040503050406030204" pitchFamily="18" charset="0"/>
                      </a:rPr>
                      <m:t>∇</m:t>
                    </m:r>
                    <m:r>
                      <a:rPr lang="nb-NO" i="1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nb-NO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nb-NO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nb-NO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b-NO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nb-NO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den>
                            </m:f>
                          </m:e>
                        </m:d>
                        <m:r>
                          <m:rPr>
                            <m:sty m:val="p"/>
                          </m:rPr>
                          <a:rPr lang="nb-NO">
                            <a:latin typeface="Cambria Math" panose="02040503050406030204" pitchFamily="18" charset="0"/>
                          </a:rPr>
                          <m:t>∇</m:t>
                        </m:r>
                        <m:r>
                          <a:rPr lang="nb-NO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nb-NO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nb-NO">
                        <a:latin typeface="Cambria Math" panose="02040503050406030204" pitchFamily="18" charset="0"/>
                      </a:rPr>
                      <m:t>∇</m:t>
                    </m:r>
                    <m:r>
                      <a:rPr lang="nb-NO" i="1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nb-NO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nb-NO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num>
                          <m:den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 enforces continuity</a:t>
                </a:r>
              </a:p>
              <a:p>
                <a:r>
                  <a:rPr lang="en-US" dirty="0"/>
                  <a:t>Corrector: update u and face fluxes with new pressure</a:t>
                </a:r>
              </a:p>
              <a:p>
                <a:r>
                  <a:rPr lang="en-US" dirty="0"/>
                  <a:t>Repeat 2-3 times per timestep to reduce splitting error</a:t>
                </a:r>
              </a:p>
              <a:p>
                <a:r>
                  <a:rPr lang="en-US" dirty="0"/>
                  <a:t>Requires CFL &lt; 1 (Explicit convection)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8187DE0-1B83-2450-878A-A3A41A90E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1224" y="1073829"/>
                <a:ext cx="8700523" cy="2244140"/>
              </a:xfrm>
              <a:prstGeom prst="rect">
                <a:avLst/>
              </a:prstGeom>
              <a:blipFill>
                <a:blip r:embed="rId3"/>
                <a:stretch>
                  <a:fillRect l="-583" t="-1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3697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60F15-EB9B-302A-A859-87B8B6C51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Solver 2: Physics-Informed Neural Networks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B55262A-29F4-2812-2596-FC2B5833BA7F}"/>
              </a:ext>
            </a:extLst>
          </p:cNvPr>
          <p:cNvSpPr txBox="1">
            <a:spLocks/>
          </p:cNvSpPr>
          <p:nvPr/>
        </p:nvSpPr>
        <p:spPr>
          <a:xfrm>
            <a:off x="1430280" y="2049450"/>
            <a:ext cx="10890929" cy="54864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What are PINNs?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A5F18F-0867-C81C-0E48-71F66583E933}"/>
              </a:ext>
            </a:extLst>
          </p:cNvPr>
          <p:cNvSpPr txBox="1"/>
          <p:nvPr/>
        </p:nvSpPr>
        <p:spPr>
          <a:xfrm>
            <a:off x="1103243" y="2812774"/>
            <a:ext cx="609173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Replaces mesh with a neural network (MLP)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PDE residual is embedded directly into the loss function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2DD03BC-9155-251C-1667-6DD9FE76B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518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918DA-17C1-9258-D11D-A16A9A6E9D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Network Architecture (MLP):</a:t>
            </a:r>
          </a:p>
          <a:p>
            <a:pPr lvl="1"/>
            <a:r>
              <a:rPr lang="en-US" dirty="0"/>
              <a:t>4 hidden layers with 128 neurons each using tanh activation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C03048-E37F-AD7E-802E-7E3FBF85B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Solver 2: Physics-Informed Neural Networks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533923A-E516-1ED4-235C-868AF0BFC5A5}"/>
              </a:ext>
            </a:extLst>
          </p:cNvPr>
          <p:cNvSpPr txBox="1">
            <a:spLocks/>
          </p:cNvSpPr>
          <p:nvPr/>
        </p:nvSpPr>
        <p:spPr>
          <a:xfrm>
            <a:off x="1430280" y="2049450"/>
            <a:ext cx="10890929" cy="54864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PINN setup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90B86D-0B39-822D-3DBB-69E0CC8603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531" y="2468881"/>
            <a:ext cx="3752469" cy="3358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1608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DB60A1-D5E3-B0BD-9F22-7160CF5A8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109" y="1200647"/>
            <a:ext cx="3498574" cy="2981729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800" dirty="0"/>
              <a:t>Taylor Green Vortex Benchmark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EA313C1-9C75-78D0-D446-7D0ECF3B5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0953" y="3445099"/>
            <a:ext cx="8211047" cy="334600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2D5033A-E2A0-7823-1841-DB58317AE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263" y="148843"/>
            <a:ext cx="8049467" cy="3280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51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984D7-D2CE-D5F3-4D33-71550CF3C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0"/>
            <a:ext cx="3236977" cy="2295143"/>
          </a:xfrm>
        </p:spPr>
        <p:txBody>
          <a:bodyPr/>
          <a:lstStyle/>
          <a:p>
            <a:r>
              <a:rPr lang="en-US" dirty="0"/>
              <a:t>Lid Driven Cavity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FA005F-0380-77E3-480F-52E5143FD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692" y="655982"/>
            <a:ext cx="9074308" cy="620201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F3F95AF-BC93-227B-F608-A0582108FD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93" y="655982"/>
            <a:ext cx="9053032" cy="62020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5C5632-956D-4B7B-F241-EC75DD37E2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691" y="655983"/>
            <a:ext cx="9053032" cy="6223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544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3064F7-C31C-C697-7A86-A1E5E667BE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0481" y="818985"/>
            <a:ext cx="8133852" cy="538020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60AA165-C119-1ED7-6F4E-A8F2F3ED3FEE}"/>
              </a:ext>
            </a:extLst>
          </p:cNvPr>
          <p:cNvSpPr txBox="1">
            <a:spLocks/>
          </p:cNvSpPr>
          <p:nvPr/>
        </p:nvSpPr>
        <p:spPr>
          <a:xfrm>
            <a:off x="640079" y="1371600"/>
            <a:ext cx="3236977" cy="229514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Lid Driven Cavity Results</a:t>
            </a:r>
          </a:p>
        </p:txBody>
      </p:sp>
    </p:spTree>
    <p:extLst>
      <p:ext uri="{BB962C8B-B14F-4D97-AF65-F5344CB8AC3E}">
        <p14:creationId xmlns:p14="http://schemas.microsoft.com/office/powerpoint/2010/main" val="3140568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AB1D0-D432-0681-DC5F-EC7CBCF7A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864" y="125205"/>
            <a:ext cx="9476936" cy="2688335"/>
          </a:xfrm>
        </p:spPr>
        <p:txBody>
          <a:bodyPr/>
          <a:lstStyle/>
          <a:p>
            <a:r>
              <a:rPr lang="en-US" dirty="0"/>
              <a:t>Backward-Facing Step 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9C47A1-DEA1-3AC2-AEF0-142064BBA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91" y="1079646"/>
            <a:ext cx="12012218" cy="5791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8246FF-74D8-7D84-C772-E6ED9F448A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85656"/>
            <a:ext cx="12102109" cy="5829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86C0FF-A705-B78C-03F6-F4561D2F6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45" y="985656"/>
            <a:ext cx="12012218" cy="5785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628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9A454F1-F659-AC8C-99E4-F200D0C3E218}"/>
              </a:ext>
            </a:extLst>
          </p:cNvPr>
          <p:cNvSpPr txBox="1">
            <a:spLocks/>
          </p:cNvSpPr>
          <p:nvPr/>
        </p:nvSpPr>
        <p:spPr>
          <a:xfrm>
            <a:off x="2257864" y="125205"/>
            <a:ext cx="9476936" cy="26883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Backward-Facing Step Results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3DFE25-A4D4-389A-0B14-E3908F78A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00" y="2014826"/>
            <a:ext cx="11563300" cy="3559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299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E32BB-25E9-27ED-B610-6A5E47A25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Strengths and Limitations</a:t>
            </a:r>
          </a:p>
        </p:txBody>
      </p:sp>
      <p:graphicFrame>
        <p:nvGraphicFramePr>
          <p:cNvPr id="4" name="Content Placeholder 4">
            <a:extLst>
              <a:ext uri="{FF2B5EF4-FFF2-40B4-BE49-F238E27FC236}">
                <a16:creationId xmlns:a16="http://schemas.microsoft.com/office/drawing/2014/main" id="{289D9027-370F-CEA9-5A2F-F9E253B0E5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9072585"/>
              </p:ext>
            </p:extLst>
          </p:nvPr>
        </p:nvGraphicFramePr>
        <p:xfrm>
          <a:off x="539179" y="4745927"/>
          <a:ext cx="1089183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5918">
                  <a:extLst>
                    <a:ext uri="{9D8B030D-6E8A-4147-A177-3AD203B41FA5}">
                      <a16:colId xmlns:a16="http://schemas.microsoft.com/office/drawing/2014/main" val="1905779268"/>
                    </a:ext>
                  </a:extLst>
                </a:gridCol>
                <a:gridCol w="5445918">
                  <a:extLst>
                    <a:ext uri="{9D8B030D-6E8A-4147-A177-3AD203B41FA5}">
                      <a16:colId xmlns:a16="http://schemas.microsoft.com/office/drawing/2014/main" val="3756693606"/>
                    </a:ext>
                  </a:extLst>
                </a:gridCol>
              </a:tblGrid>
              <a:tr h="184666">
                <a:tc>
                  <a:txBody>
                    <a:bodyPr/>
                    <a:lstStyle/>
                    <a:p>
                      <a:r>
                        <a:rPr lang="en-US" dirty="0" err="1"/>
                        <a:t>openFoam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Pinn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5336221"/>
                  </a:ext>
                </a:extLst>
              </a:tr>
              <a:tr h="184666">
                <a:tc>
                  <a:txBody>
                    <a:bodyPr/>
                    <a:lstStyle/>
                    <a:p>
                      <a:r>
                        <a:rPr lang="en-US" dirty="0"/>
                        <a:t>Mesh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Collocation points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984949"/>
                  </a:ext>
                </a:extLst>
              </a:tr>
              <a:tr h="184666">
                <a:tc>
                  <a:txBody>
                    <a:bodyPr/>
                    <a:lstStyle/>
                    <a:p>
                      <a:r>
                        <a:rPr lang="en-US" dirty="0"/>
                        <a:t>FVM </a:t>
                      </a:r>
                      <a:r>
                        <a:rPr lang="en-US" dirty="0" err="1"/>
                        <a:t>discretizatrion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Automatic differentiation via JAX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595439"/>
                  </a:ext>
                </a:extLst>
              </a:tr>
              <a:tr h="184666">
                <a:tc>
                  <a:txBody>
                    <a:bodyPr/>
                    <a:lstStyle/>
                    <a:p>
                      <a:r>
                        <a:rPr lang="en-US" dirty="0"/>
                        <a:t>PISO pressure-velocity coupling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continuity is enforced through loss function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622976"/>
                  </a:ext>
                </a:extLst>
              </a:tr>
              <a:tr h="184666">
                <a:tc>
                  <a:txBody>
                    <a:bodyPr/>
                    <a:lstStyle/>
                    <a:p>
                      <a:r>
                        <a:rPr lang="en-US" dirty="0"/>
                        <a:t>Linear solver per timestep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Gradient descent over all time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85757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5740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621CC-814A-D7A9-4BBC-27FE0D235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PINNs Have the Edge?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FB0AE1-E1B2-DF18-6812-E362C1D6E170}"/>
              </a:ext>
            </a:extLst>
          </p:cNvPr>
          <p:cNvSpPr txBox="1"/>
          <p:nvPr/>
        </p:nvSpPr>
        <p:spPr>
          <a:xfrm>
            <a:off x="1078992" y="2099549"/>
            <a:ext cx="1882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Inverse problem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5C0D3E6-8912-B68D-50DD-EBFFD21D65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428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E9AA2D-D8BC-9FBA-568C-9089539EA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737859" cy="1097280"/>
          </a:xfrm>
        </p:spPr>
        <p:txBody>
          <a:bodyPr>
            <a:normAutofit/>
          </a:bodyPr>
          <a:lstStyle/>
          <a:p>
            <a:r>
              <a:rPr lang="en-US" dirty="0"/>
              <a:t>Conclusion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47A52-6C3E-D967-E643-A05597C6F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737860" cy="3666980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E34C91-F763-5445-A5A2-5DF16B74A5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644" y="333963"/>
            <a:ext cx="7742811" cy="563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89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34A3D-9B68-F4A9-8100-1A16FBBEB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375454-CFF5-7FE0-0FD0-98EEF2DAA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86654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28960</TotalTime>
  <Words>329</Words>
  <Application>Microsoft Macintosh PowerPoint</Application>
  <PresentationFormat>Widescreen</PresentationFormat>
  <Paragraphs>63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Cambria Math</vt:lpstr>
      <vt:lpstr>Grandview Display</vt:lpstr>
      <vt:lpstr>DashVTI</vt:lpstr>
      <vt:lpstr>No Mesh?  No Problem - openFoam meets PINNs</vt:lpstr>
      <vt:lpstr>Why PINNs?</vt:lpstr>
      <vt:lpstr>Governing Equations</vt:lpstr>
      <vt:lpstr>Test Cases Overview</vt:lpstr>
      <vt:lpstr>Solver 1: OpenFoam</vt:lpstr>
      <vt:lpstr>Solver 2: Physics-Informed Neural Networks</vt:lpstr>
      <vt:lpstr>Solver 2: Physics-Informed Neural Networks</vt:lpstr>
      <vt:lpstr>Taylor Green Vortex Benchmark</vt:lpstr>
      <vt:lpstr>Lid Driven Cavity Results</vt:lpstr>
      <vt:lpstr>PowerPoint Presentation</vt:lpstr>
      <vt:lpstr>Backward-Facing Step Results</vt:lpstr>
      <vt:lpstr>PowerPoint Presentation</vt:lpstr>
      <vt:lpstr>Strengths and Limitations</vt:lpstr>
      <vt:lpstr>Where PINNs Have the Edge?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Henrik Haug</dc:creator>
  <cp:lastModifiedBy>Henrik Haug</cp:lastModifiedBy>
  <cp:revision>5</cp:revision>
  <dcterms:created xsi:type="dcterms:W3CDTF">2026-05-05T09:03:26Z</dcterms:created>
  <dcterms:modified xsi:type="dcterms:W3CDTF">2026-05-28T17:51:18Z</dcterms:modified>
</cp:coreProperties>
</file>