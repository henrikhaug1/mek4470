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9" r:id="rId1"/>
  </p:sldMasterIdLst>
  <p:sldIdLst>
    <p:sldId id="256" r:id="rId2"/>
    <p:sldId id="265" r:id="rId3"/>
    <p:sldId id="260" r:id="rId4"/>
    <p:sldId id="257" r:id="rId5"/>
    <p:sldId id="266" r:id="rId6"/>
    <p:sldId id="258" r:id="rId7"/>
    <p:sldId id="267" r:id="rId8"/>
    <p:sldId id="268" r:id="rId9"/>
    <p:sldId id="27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F88E"/>
    <a:srgbClr val="BEF58C"/>
    <a:srgbClr val="B0E48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312"/>
    <p:restoredTop sz="94646"/>
  </p:normalViewPr>
  <p:slideViewPr>
    <p:cSldViewPr snapToGrid="0">
      <p:cViewPr varScale="1">
        <p:scale>
          <a:sx n="158" d="100"/>
          <a:sy n="158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312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802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6798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6360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5/7/26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0681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5/7/26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1224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5/7/26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295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7082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555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0325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27208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457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8" r:id="rId6"/>
    <p:sldLayoutId id="2147483693" r:id="rId7"/>
    <p:sldLayoutId id="2147483694" r:id="rId8"/>
    <p:sldLayoutId id="2147483695" r:id="rId9"/>
    <p:sldLayoutId id="2147483697" r:id="rId10"/>
    <p:sldLayoutId id="2147483696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FD1D2CD-954D-4C4D-B505-05EAD159B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67165D-2A79-28F3-FDB3-DC75D70F6E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117" y="952500"/>
            <a:ext cx="4124557" cy="352425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900" noProof="1"/>
              <a:t>No Mesh? </a:t>
            </a:r>
            <a:br>
              <a:rPr lang="en-US" sz="4900" noProof="1"/>
            </a:br>
            <a:r>
              <a:rPr lang="en-US" sz="4900" noProof="1"/>
              <a:t>No Problem</a:t>
            </a:r>
            <a:br>
              <a:rPr lang="en-US" sz="4900" noProof="1"/>
            </a:br>
            <a:r>
              <a:rPr lang="en-US" sz="4900" noProof="1"/>
              <a:t>-</a:t>
            </a:r>
            <a:br>
              <a:rPr lang="en-US" sz="4900" noProof="1"/>
            </a:br>
            <a:r>
              <a:rPr lang="en-US" sz="4900" noProof="1"/>
              <a:t>openFoam meets PINNs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AB1DB6-FD92-286B-5C10-6E96192670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4118" y="5374291"/>
            <a:ext cx="4057882" cy="972532"/>
          </a:xfrm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</a:pPr>
            <a:r>
              <a:rPr lang="en-US" sz="1500" noProof="1"/>
              <a:t>In Navier Stokes incompressible laminar flows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2D508B3-A66C-833E-D929-8DC2116356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2088" y="4882722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6DE6E991-9022-6CAC-F3DD-AE40F70898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31" r="17091"/>
          <a:stretch>
            <a:fillRect/>
          </a:stretch>
        </p:blipFill>
        <p:spPr>
          <a:xfrm>
            <a:off x="5261956" y="10"/>
            <a:ext cx="6930043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22466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FA5AD-57F9-048D-4E4C-6A7F8C59F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Governing Equations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1F6078-B32A-E9E8-4975-AF0B0A9928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u="sng" dirty="0"/>
                  <a:t>Incompressible Navier Stokes equation:</a:t>
                </a:r>
              </a:p>
              <a:p>
                <a:pPr marL="742950" lvl="1" indent="-285750"/>
                <a:r>
                  <a:rPr lang="en-US" dirty="0" err="1"/>
                  <a:t>Momemtum</a:t>
                </a:r>
                <a:r>
                  <a:rPr lang="en-US" dirty="0"/>
                  <a:t> equation:</a:t>
                </a:r>
              </a:p>
              <a:p>
                <a:pPr marL="1200150" lvl="2" indent="-285750"/>
                <a14:m>
                  <m:oMath xmlns:m="http://schemas.openxmlformats.org/officeDocument/2006/math">
                    <m:r>
                      <a:rPr lang="nb-NO" i="1">
                        <a:latin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nb-NO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nb-NO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nb-NO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nb-NO" i="1">
                                <a:latin typeface="Cambria Math" panose="02040503050406030204" pitchFamily="18" charset="0"/>
                              </a:rPr>
                              <m:t>𝐮</m:t>
                            </m:r>
                          </m:num>
                          <m:den>
                            <m:r>
                              <a:rPr lang="nb-NO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nb-NO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  <m:r>
                          <a:rPr lang="nb-NO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nb-NO" i="1">
                            <a:latin typeface="Cambria Math" panose="02040503050406030204" pitchFamily="18" charset="0"/>
                          </a:rPr>
                          <m:t>𝐮</m:t>
                        </m:r>
                        <m:r>
                          <a:rPr lang="nb-NO" i="1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nb-NO">
                            <a:latin typeface="Cambria Math" panose="02040503050406030204" pitchFamily="18" charset="0"/>
                          </a:rPr>
                          <m:t>∇</m:t>
                        </m:r>
                        <m:r>
                          <a:rPr lang="nb-NO" i="1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</m:d>
                    <m:r>
                      <a:rPr lang="nb-NO" i="1">
                        <a:latin typeface="Cambria Math" panose="02040503050406030204" pitchFamily="18" charset="0"/>
                      </a:rPr>
                      <m:t>=−</m:t>
                    </m:r>
                    <m:r>
                      <m:rPr>
                        <m:sty m:val="p"/>
                      </m:rPr>
                      <a:rPr lang="nb-NO">
                        <a:latin typeface="Cambria Math" panose="02040503050406030204" pitchFamily="18" charset="0"/>
                      </a:rPr>
                      <m:t>∇</m:t>
                    </m:r>
                    <m:r>
                      <m:rPr>
                        <m:sty m:val="p"/>
                      </m:rPr>
                      <a:rPr lang="nb-NO" i="1">
                        <a:latin typeface="Cambria Math" panose="02040503050406030204" pitchFamily="18" charset="0"/>
                      </a:rPr>
                      <m:t>p</m:t>
                    </m:r>
                    <m:r>
                      <a:rPr lang="nb-NO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nb-NO" i="1">
                        <a:latin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nb-NO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nb-NO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nb-NO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b-NO" i="1"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endParaRPr lang="en-US" dirty="0"/>
              </a:p>
              <a:p>
                <a:pPr marL="742950" lvl="1" indent="-285750"/>
                <a:r>
                  <a:rPr lang="nb-NO" dirty="0" err="1">
                    <a:latin typeface="Cambria Math" panose="02040503050406030204" pitchFamily="18" charset="0"/>
                  </a:rPr>
                  <a:t>Continuity</a:t>
                </a:r>
                <a:r>
                  <a:rPr lang="nb-NO" dirty="0">
                    <a:latin typeface="Cambria Math" panose="02040503050406030204" pitchFamily="18" charset="0"/>
                  </a:rPr>
                  <a:t> </a:t>
                </a:r>
                <a:r>
                  <a:rPr lang="nb-NO" dirty="0" err="1">
                    <a:latin typeface="Cambria Math" panose="02040503050406030204" pitchFamily="18" charset="0"/>
                  </a:rPr>
                  <a:t>equation</a:t>
                </a:r>
                <a:r>
                  <a:rPr lang="nb-NO" dirty="0">
                    <a:latin typeface="Cambria Math" panose="02040503050406030204" pitchFamily="18" charset="0"/>
                  </a:rPr>
                  <a:t>:</a:t>
                </a:r>
              </a:p>
              <a:p>
                <a:pPr marL="1200150" lvl="2" indent="-285750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b-NO">
                        <a:latin typeface="Cambria Math" panose="02040503050406030204" pitchFamily="18" charset="0"/>
                      </a:rPr>
                      <m:t>∇</m:t>
                    </m:r>
                    <m:r>
                      <a:rPr lang="nb-NO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nb-NO" i="1">
                        <a:latin typeface="Cambria Math" panose="02040503050406030204" pitchFamily="18" charset="0"/>
                      </a:rPr>
                      <m:t>𝐮</m:t>
                    </m:r>
                    <m:r>
                      <a:rPr lang="nb-NO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1F6078-B32A-E9E8-4975-AF0B0A9928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92396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7584D-07CB-C7B7-168B-8E97E37DD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D130E5-380B-D98A-9EB4-EE8C61D94A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0079" y="3730752"/>
                <a:ext cx="4759234" cy="2083671"/>
              </a:xfrm>
            </p:spPr>
            <p:txBody>
              <a:bodyPr/>
              <a:lstStyle/>
              <a:p>
                <a:r>
                  <a:rPr lang="en-US" b="1" u="sng" dirty="0"/>
                  <a:t>Taylor green vortex benchmark</a:t>
                </a:r>
              </a:p>
              <a:p>
                <a:pPr lvl="1"/>
                <a:r>
                  <a:rPr lang="en-US" dirty="0"/>
                  <a:t>Exact solution: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nb-NO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nb-NO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nb-NO" b="0" i="0" smtClean="0">
                            <a:latin typeface="Cambria Math" panose="02040503050406030204" pitchFamily="18" charset="0"/>
                          </a:rPr>
                          <m:t>-</m:t>
                        </m:r>
                        <m:r>
                          <m:rPr>
                            <m:sty m:val="p"/>
                          </m:rPr>
                          <a:rPr lang="nb-NO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nb-NO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func>
                    <m:func>
                      <m:func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b-NO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nb-NO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func>
                    <m:sSup>
                      <m:sSup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𝜈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nb-NO" b="0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nb-NO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nb-NO" b="0" i="1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nb-NO" b="0" i="1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nb-NO" b="0" i="1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𝑐𝑜𝑠</m:t>
                    </m:r>
                    <m:d>
                      <m:d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nb-NO" b="0" i="1" smtClean="0">
                        <a:latin typeface="Cambria Math" panose="02040503050406030204" pitchFamily="18" charset="0"/>
                      </a:rPr>
                      <m:t>𝑠𝑖𝑛</m:t>
                    </m:r>
                    <m:d>
                      <m:d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sSup>
                      <m:sSup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𝜈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nb-NO" b="0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nb-NO" b="0" i="1" dirty="0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nb-NO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nb-NO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nb-NO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nb-NO" b="0" i="1" dirty="0" smtClean="0">
                        <a:latin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nb-NO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𝑐𝑜𝑠</m:t>
                        </m:r>
                        <m:d>
                          <m:dPr>
                            <m:ctrlPr>
                              <a:rPr lang="nb-NO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b-NO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b-NO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𝑐𝑜𝑠</m:t>
                        </m:r>
                        <m:d>
                          <m:dPr>
                            <m:ctrlPr>
                              <a:rPr lang="nb-NO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b-NO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b-NO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nb-NO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−4</m:t>
                        </m:r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𝜈</m:t>
                        </m:r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</a:p>
              <a:p>
                <a:pPr lvl="2"/>
                <a:endParaRPr lang="nb-NO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D130E5-380B-D98A-9EB4-EE8C61D94A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079" y="3730752"/>
                <a:ext cx="4759234" cy="2083671"/>
              </a:xfrm>
              <a:blipFill>
                <a:blip r:embed="rId2"/>
                <a:stretch>
                  <a:fillRect l="-5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6652015B-02B6-38A7-556B-E374E68161AA}"/>
              </a:ext>
            </a:extLst>
          </p:cNvPr>
          <p:cNvSpPr txBox="1"/>
          <p:nvPr/>
        </p:nvSpPr>
        <p:spPr>
          <a:xfrm>
            <a:off x="5399313" y="3730752"/>
            <a:ext cx="16818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Backward step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85A21F-05D6-70D7-2FC3-9BB837CD769E}"/>
              </a:ext>
            </a:extLst>
          </p:cNvPr>
          <p:cNvSpPr txBox="1"/>
          <p:nvPr/>
        </p:nvSpPr>
        <p:spPr>
          <a:xfrm>
            <a:off x="8418443" y="3730752"/>
            <a:ext cx="3339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Inverse problem</a:t>
            </a:r>
          </a:p>
        </p:txBody>
      </p:sp>
    </p:spTree>
    <p:extLst>
      <p:ext uri="{BB962C8B-B14F-4D97-AF65-F5344CB8AC3E}">
        <p14:creationId xmlns:p14="http://schemas.microsoft.com/office/powerpoint/2010/main" val="2604914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187FB-3826-A13A-27DE-1AD08BEE9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Solver 1: </a:t>
            </a:r>
            <a:r>
              <a:rPr lang="en-US" dirty="0" err="1"/>
              <a:t>OpenFoam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2C8DE6-7EF3-0AEF-CD88-CD8C02BCA828}"/>
              </a:ext>
            </a:extLst>
          </p:cNvPr>
          <p:cNvSpPr/>
          <p:nvPr/>
        </p:nvSpPr>
        <p:spPr>
          <a:xfrm>
            <a:off x="1301069" y="3840479"/>
            <a:ext cx="10890931" cy="2550382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36C5A-0001-B896-535C-4B88340099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1069" y="4434839"/>
            <a:ext cx="10890929" cy="188644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Integrate PDEs over each control volume (cell)</a:t>
            </a:r>
          </a:p>
          <a:p>
            <a:r>
              <a:rPr lang="en-US" dirty="0"/>
              <a:t>Apply Gauss’ Divergence theorem to convert volume integral to surface integral</a:t>
            </a:r>
          </a:p>
          <a:p>
            <a:r>
              <a:rPr lang="en-US" dirty="0"/>
              <a:t>Momentum equation becomes a linear system per timestep</a:t>
            </a:r>
          </a:p>
          <a:p>
            <a:r>
              <a:rPr lang="en-US" dirty="0"/>
              <a:t>Pressure emerges from continuity.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F153D4-2A99-BF13-549F-DC2FE4CEDD2C}"/>
              </a:ext>
            </a:extLst>
          </p:cNvPr>
          <p:cNvSpPr txBox="1">
            <a:spLocks/>
          </p:cNvSpPr>
          <p:nvPr/>
        </p:nvSpPr>
        <p:spPr>
          <a:xfrm>
            <a:off x="1301071" y="3718229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Finite Volume Discretization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49FFFD-19DC-3295-725C-A9ECD324C75C}"/>
              </a:ext>
            </a:extLst>
          </p:cNvPr>
          <p:cNvSpPr/>
          <p:nvPr/>
        </p:nvSpPr>
        <p:spPr>
          <a:xfrm>
            <a:off x="1301069" y="2057400"/>
            <a:ext cx="10890931" cy="166082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F8D099D-7725-12F5-4824-27782DD47C40}"/>
              </a:ext>
            </a:extLst>
          </p:cNvPr>
          <p:cNvSpPr txBox="1">
            <a:spLocks/>
          </p:cNvSpPr>
          <p:nvPr/>
        </p:nvSpPr>
        <p:spPr>
          <a:xfrm>
            <a:off x="1301070" y="2057400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What is </a:t>
            </a:r>
            <a:r>
              <a:rPr lang="en-US" sz="3200" dirty="0" err="1"/>
              <a:t>openFoam</a:t>
            </a:r>
            <a:r>
              <a:rPr lang="en-US" sz="3200" dirty="0"/>
              <a:t>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A1EE006-DAB7-9708-4FC3-B2582E84AB3B}"/>
                  </a:ext>
                </a:extLst>
              </p:cNvPr>
              <p:cNvSpPr txBox="1"/>
              <p:nvPr/>
            </p:nvSpPr>
            <p:spPr>
              <a:xfrm>
                <a:off x="1461052" y="2763078"/>
                <a:ext cx="6167073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Transient, incompressible, laminar Navier-Stokes solver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Cell-centered u and p with fluxes defined at faces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Continuity </a:t>
                </a:r>
                <a14:m>
                  <m:oMath xmlns:m="http://schemas.openxmlformats.org/officeDocument/2006/math">
                    <m:r>
                      <a:rPr lang="nb-NO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nb-NO" b="0" i="0" smtClean="0">
                        <a:latin typeface="Cambria Math" panose="02040503050406030204" pitchFamily="18" charset="0"/>
                      </a:rPr>
                      <m:t>∇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 ⋅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)=0</m:t>
                    </m:r>
                  </m:oMath>
                </a14:m>
                <a:r>
                  <a:rPr lang="en-US" dirty="0"/>
                  <a:t> introduces coupling challenge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A1EE006-DAB7-9708-4FC3-B2582E84A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1052" y="2763078"/>
                <a:ext cx="6167073" cy="923330"/>
              </a:xfrm>
              <a:prstGeom prst="rect">
                <a:avLst/>
              </a:prstGeom>
              <a:blipFill>
                <a:blip r:embed="rId2"/>
                <a:stretch>
                  <a:fillRect l="-823" t="-2703"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3697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B19B7-7DE3-B655-4D36-A9FBCDDC8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108ED-23DF-3D9D-5F3A-DA6D469FA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Solver 1: </a:t>
            </a:r>
            <a:r>
              <a:rPr lang="en-US" dirty="0" err="1"/>
              <a:t>OpenFoam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438689-6394-4F95-D9F4-3F2B28E36F7D}"/>
              </a:ext>
            </a:extLst>
          </p:cNvPr>
          <p:cNvSpPr/>
          <p:nvPr/>
        </p:nvSpPr>
        <p:spPr>
          <a:xfrm>
            <a:off x="1301071" y="2034540"/>
            <a:ext cx="10890929" cy="355622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7CEE18-CB53-4F89-4E5B-9A641D69B6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01071" y="2715370"/>
                <a:ext cx="10890928" cy="3566160"/>
              </a:xfrm>
            </p:spPr>
            <p:txBody>
              <a:bodyPr/>
              <a:lstStyle/>
              <a:p>
                <a:r>
                  <a:rPr lang="en-US" dirty="0"/>
                  <a:t>Predictor: solve momentum equation with lagged pressure.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is not divergence free.</a:t>
                </a:r>
              </a:p>
              <a:p>
                <a:r>
                  <a:rPr lang="en-US" dirty="0"/>
                  <a:t>Pressure solve: Poisson equation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b-NO" b="0" i="0" smtClean="0">
                        <a:latin typeface="Cambria Math" panose="02040503050406030204" pitchFamily="18" charset="0"/>
                      </a:rPr>
                      <m:t>∇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nb-NO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nb-NO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b-NO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nb-NO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den>
                            </m:f>
                          </m:e>
                        </m:d>
                        <m:r>
                          <m:rPr>
                            <m:sty m:val="p"/>
                          </m:rPr>
                          <a:rPr lang="nb-NO" b="0" i="0" smtClean="0">
                            <a:latin typeface="Cambria Math" panose="02040503050406030204" pitchFamily="18" charset="0"/>
                          </a:rPr>
                          <m:t>∇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nb-NO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nb-NO" b="0" i="0" smtClean="0">
                        <a:latin typeface="Cambria Math" panose="02040503050406030204" pitchFamily="18" charset="0"/>
                      </a:rPr>
                      <m:t>∇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nb-NO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num>
                          <m:den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den>
                        </m:f>
                      </m:e>
                    </m:d>
                  </m:oMath>
                </a14:m>
                <a:r>
                  <a:rPr lang="en-US" dirty="0"/>
                  <a:t> enforces continuity</a:t>
                </a:r>
              </a:p>
              <a:p>
                <a:r>
                  <a:rPr lang="en-US" dirty="0"/>
                  <a:t>Corrector: update u and face fluxes with new pressure</a:t>
                </a:r>
              </a:p>
              <a:p>
                <a:r>
                  <a:rPr lang="en-US" dirty="0"/>
                  <a:t>Repeat 2-3 times per timestep to reduce splitting error</a:t>
                </a:r>
              </a:p>
              <a:p>
                <a:r>
                  <a:rPr lang="en-US" dirty="0"/>
                  <a:t>Requires CFL &lt; 1 (Explicit convection)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7CEE18-CB53-4F89-4E5B-9A641D69B6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01071" y="2715370"/>
                <a:ext cx="10890928" cy="3566160"/>
              </a:xfrm>
              <a:blipFill>
                <a:blip r:embed="rId2"/>
                <a:stretch>
                  <a:fillRect l="-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6499EF5D-2E0E-041B-3F56-3021B7467160}"/>
              </a:ext>
            </a:extLst>
          </p:cNvPr>
          <p:cNvSpPr txBox="1">
            <a:spLocks/>
          </p:cNvSpPr>
          <p:nvPr/>
        </p:nvSpPr>
        <p:spPr>
          <a:xfrm>
            <a:off x="1301071" y="192024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Piso Algorithm</a:t>
            </a:r>
          </a:p>
        </p:txBody>
      </p:sp>
    </p:spTree>
    <p:extLst>
      <p:ext uri="{BB962C8B-B14F-4D97-AF65-F5344CB8AC3E}">
        <p14:creationId xmlns:p14="http://schemas.microsoft.com/office/powerpoint/2010/main" val="689377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60F15-EB9B-302A-A859-87B8B6C51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Solver 2: Physics-Informed Neural Networks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82477CFF-7FF1-01C9-5FC1-46938B5B84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98151417"/>
              </p:ext>
            </p:extLst>
          </p:nvPr>
        </p:nvGraphicFramePr>
        <p:xfrm>
          <a:off x="639172" y="4671185"/>
          <a:ext cx="108918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5918">
                  <a:extLst>
                    <a:ext uri="{9D8B030D-6E8A-4147-A177-3AD203B41FA5}">
                      <a16:colId xmlns:a16="http://schemas.microsoft.com/office/drawing/2014/main" val="1905779268"/>
                    </a:ext>
                  </a:extLst>
                </a:gridCol>
                <a:gridCol w="5445918">
                  <a:extLst>
                    <a:ext uri="{9D8B030D-6E8A-4147-A177-3AD203B41FA5}">
                      <a16:colId xmlns:a16="http://schemas.microsoft.com/office/drawing/2014/main" val="37566936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openFoam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Pinn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53362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Collocation points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984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FVM </a:t>
                      </a:r>
                      <a:r>
                        <a:rPr lang="en-US" dirty="0" err="1"/>
                        <a:t>discretizatrion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Automatic differentiation via JAX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595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PISO pressure-velocity coupling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continuity is enforced through loss function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4622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Linear solver per timestep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Gradient descent over all time 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8575766"/>
                  </a:ext>
                </a:extLst>
              </a:tr>
            </a:tbl>
          </a:graphicData>
        </a:graphic>
      </p:graphicFrame>
      <p:sp>
        <p:nvSpPr>
          <p:cNvPr id="4" name="Title 1">
            <a:extLst>
              <a:ext uri="{FF2B5EF4-FFF2-40B4-BE49-F238E27FC236}">
                <a16:creationId xmlns:a16="http://schemas.microsoft.com/office/drawing/2014/main" id="{6B55262A-29F4-2812-2596-FC2B5833BA7F}"/>
              </a:ext>
            </a:extLst>
          </p:cNvPr>
          <p:cNvSpPr txBox="1">
            <a:spLocks/>
          </p:cNvSpPr>
          <p:nvPr/>
        </p:nvSpPr>
        <p:spPr>
          <a:xfrm>
            <a:off x="1430280" y="2049450"/>
            <a:ext cx="10890929" cy="548640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What are PINNs?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A5F18F-0867-C81C-0E48-71F66583E933}"/>
              </a:ext>
            </a:extLst>
          </p:cNvPr>
          <p:cNvSpPr txBox="1"/>
          <p:nvPr/>
        </p:nvSpPr>
        <p:spPr>
          <a:xfrm>
            <a:off x="1103243" y="2812774"/>
            <a:ext cx="609173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Replaces mesh with a neural network (MLP)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PDE residual is embedded directly into the loss function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85180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918DA-17C1-9258-D11D-A16A9A6E9D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Network Architecture (MLP):</a:t>
            </a:r>
          </a:p>
          <a:p>
            <a:pPr lvl="1"/>
            <a:r>
              <a:rPr lang="en-US" dirty="0"/>
              <a:t>4 hidden layers with 128 neurons each using tanh activation ()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AC03048-E37F-AD7E-802E-7E3FBF85B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Solver 2: Physics-Informed Neural Networks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533923A-E516-1ED4-235C-868AF0BFC5A5}"/>
              </a:ext>
            </a:extLst>
          </p:cNvPr>
          <p:cNvSpPr txBox="1">
            <a:spLocks/>
          </p:cNvSpPr>
          <p:nvPr/>
        </p:nvSpPr>
        <p:spPr>
          <a:xfrm>
            <a:off x="1430280" y="2049450"/>
            <a:ext cx="10890929" cy="548640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PINN setup</a:t>
            </a:r>
          </a:p>
        </p:txBody>
      </p:sp>
    </p:spTree>
    <p:extLst>
      <p:ext uri="{BB962C8B-B14F-4D97-AF65-F5344CB8AC3E}">
        <p14:creationId xmlns:p14="http://schemas.microsoft.com/office/powerpoint/2010/main" val="14361608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DB60A1-D5E3-B0BD-9F22-7160CF5A8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378" y="3258434"/>
            <a:ext cx="3509233" cy="332679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/>
              <a:t>Taylor Green Vortex Benchmark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77CA4E2-D886-7D24-345D-B24A8E72F0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0171" y="589060"/>
            <a:ext cx="7495210" cy="5996171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FCACC49-D9E6-9BF1-A7CD-61C5F4EDA5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533989" y="589060"/>
            <a:ext cx="7631392" cy="610511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36CA233-B044-2838-EB47-099AB4D31A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3989" y="589060"/>
            <a:ext cx="7631380" cy="61051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36C09B7-4A20-30AB-03E8-EC149A51E0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7370" y="589052"/>
            <a:ext cx="7631372" cy="610509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4751A91-EA69-EAC6-6D2B-F6542B21CAD9}"/>
              </a:ext>
            </a:extLst>
          </p:cNvPr>
          <p:cNvSpPr txBox="1"/>
          <p:nvPr/>
        </p:nvSpPr>
        <p:spPr>
          <a:xfrm>
            <a:off x="435179" y="1790775"/>
            <a:ext cx="25138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 err="1"/>
              <a:t>openFoam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896516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EFF7D0-1DA7-330C-BAB5-59A695460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D8BCB5B-5555-6CCF-225D-99BDF2A76D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1202105-6653-E310-88A6-CAAE98DB8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77C020-20C4-A60C-C835-77FD684A8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911" y="3111282"/>
            <a:ext cx="3509233" cy="332679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/>
              <a:t>Taylor Green Vortex Benchmark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67E9F6-9A46-418B-64AC-38B0991E8B7B}"/>
              </a:ext>
            </a:extLst>
          </p:cNvPr>
          <p:cNvSpPr txBox="1"/>
          <p:nvPr/>
        </p:nvSpPr>
        <p:spPr>
          <a:xfrm>
            <a:off x="437662" y="1983475"/>
            <a:ext cx="136287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/>
              <a:t>PINN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E28B5A-C4FE-8944-C1E9-DD17D7154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1865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984D7-D2CE-D5F3-4D33-71550CF3C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at Re=100, 400, 800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C0D54-99DD-E31E-26DB-A88D993E7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55443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E32BB-25E9-27ED-B610-6A5E47A25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Strengths and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74145-5798-88A0-0DA9-018F8901AD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7405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621CC-814A-D7A9-4BBC-27FE0D235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PINNs Have the Edge?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6CBFE0-BFB3-7819-271F-24A0845F1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4284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9AA2D-D8BC-9FBA-568C-9089539EA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Collaboration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747A52-6C3E-D967-E643-A05597C6FE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89493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25783</TotalTime>
  <Words>325</Words>
  <Application>Microsoft Macintosh PowerPoint</Application>
  <PresentationFormat>Widescreen</PresentationFormat>
  <Paragraphs>59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Cambria Math</vt:lpstr>
      <vt:lpstr>Grandview Display</vt:lpstr>
      <vt:lpstr>DashVTI</vt:lpstr>
      <vt:lpstr>No Mesh?  No Problem - openFoam meets PINNs</vt:lpstr>
      <vt:lpstr>Governing Equations</vt:lpstr>
      <vt:lpstr>The Problems</vt:lpstr>
      <vt:lpstr>Solver 1: OpenFoam</vt:lpstr>
      <vt:lpstr>Solver 1: OpenFoam</vt:lpstr>
      <vt:lpstr>Solver 2: Physics-Informed Neural Networks</vt:lpstr>
      <vt:lpstr>Solver 2: Physics-Informed Neural Networks</vt:lpstr>
      <vt:lpstr>Taylor Green Vortex Benchmark</vt:lpstr>
      <vt:lpstr>Taylor Green Vortex Benchmark</vt:lpstr>
      <vt:lpstr>Results at Re=100, 400, 800</vt:lpstr>
      <vt:lpstr>Strengths and Limitations</vt:lpstr>
      <vt:lpstr>Where PINNs Have the Edge?</vt:lpstr>
      <vt:lpstr>Collaboration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Henrik Haug</dc:creator>
  <cp:lastModifiedBy>Henrik Haug</cp:lastModifiedBy>
  <cp:revision>3</cp:revision>
  <dcterms:created xsi:type="dcterms:W3CDTF">2026-05-05T09:03:26Z</dcterms:created>
  <dcterms:modified xsi:type="dcterms:W3CDTF">2026-05-25T06:37:52Z</dcterms:modified>
</cp:coreProperties>
</file>