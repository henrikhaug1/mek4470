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</p:sldMasterIdLst>
  <p:sldIdLst>
    <p:sldId id="256" r:id="rId2"/>
    <p:sldId id="260" r:id="rId3"/>
    <p:sldId id="257" r:id="rId4"/>
    <p:sldId id="258" r:id="rId5"/>
    <p:sldId id="259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83"/>
    <p:restoredTop sz="94646"/>
  </p:normalViewPr>
  <p:slideViewPr>
    <p:cSldViewPr snapToGrid="0">
      <p:cViewPr varScale="1">
        <p:scale>
          <a:sx n="128" d="100"/>
          <a:sy n="128" d="100"/>
        </p:scale>
        <p:origin x="176" y="1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312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802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798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636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5/7/26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068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5/7/26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1224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5/7/26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295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708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555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032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720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457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8" r:id="rId6"/>
    <p:sldLayoutId id="2147483693" r:id="rId7"/>
    <p:sldLayoutId id="2147483694" r:id="rId8"/>
    <p:sldLayoutId id="2147483695" r:id="rId9"/>
    <p:sldLayoutId id="2147483697" r:id="rId10"/>
    <p:sldLayoutId id="2147483696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FD1D2CD-954D-4C4D-B505-05EAD159B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67165D-2A79-28F3-FDB3-DC75D70F6E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117" y="952500"/>
            <a:ext cx="4124557" cy="352425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900" noProof="1"/>
              <a:t>No Mesh? </a:t>
            </a:r>
            <a:br>
              <a:rPr lang="en-US" sz="4900" noProof="1"/>
            </a:br>
            <a:r>
              <a:rPr lang="en-US" sz="4900" noProof="1"/>
              <a:t>No Problem</a:t>
            </a:r>
            <a:br>
              <a:rPr lang="en-US" sz="4900" noProof="1"/>
            </a:br>
            <a:r>
              <a:rPr lang="en-US" sz="4900" noProof="1"/>
              <a:t>-</a:t>
            </a:r>
            <a:br>
              <a:rPr lang="en-US" sz="4900" noProof="1"/>
            </a:br>
            <a:r>
              <a:rPr lang="en-US" sz="4900" noProof="1"/>
              <a:t>openFoam meets PINNs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B1DB6-FD92-286B-5C10-6E9619267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118" y="5374291"/>
            <a:ext cx="4057882" cy="972532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1500" noProof="1"/>
              <a:t>In Navier Stokes incompressible laminar flows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2D508B3-A66C-833E-D929-8DC2116356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2088" y="4882722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6DE6E991-9022-6CAC-F3DD-AE40F70898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31" r="17091"/>
          <a:stretch>
            <a:fillRect/>
          </a:stretch>
        </p:blipFill>
        <p:spPr>
          <a:xfrm>
            <a:off x="5261956" y="10"/>
            <a:ext cx="6930043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2466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7584D-07CB-C7B7-168B-8E97E37DD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D130E5-380B-D98A-9EB4-EE8C61D94A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079" y="3730752"/>
                <a:ext cx="4759234" cy="2083671"/>
              </a:xfrm>
            </p:spPr>
            <p:txBody>
              <a:bodyPr/>
              <a:lstStyle/>
              <a:p>
                <a:r>
                  <a:rPr lang="en-US" b="1" u="sng" dirty="0"/>
                  <a:t>Taylor green vortex benchmark</a:t>
                </a:r>
              </a:p>
              <a:p>
                <a:pPr lvl="1"/>
                <a:r>
                  <a:rPr lang="en-US" dirty="0"/>
                  <a:t>Exact solution: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nb-NO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nb-NO" b="0" i="0" smtClean="0">
                            <a:latin typeface="Cambria Math" panose="02040503050406030204" pitchFamily="18" charset="0"/>
                          </a:rPr>
                          <m:t>-</m:t>
                        </m:r>
                        <m:r>
                          <m:rPr>
                            <m:sty m:val="p"/>
                          </m:rPr>
                          <a:rPr lang="nb-NO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func>
                      <m:func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b-NO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func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nb-NO" b="0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nb-NO" b="0" i="1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nb-NO" b="0" i="1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nb-NO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𝑐𝑜𝑠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nb-NO" b="0" i="1" smtClean="0">
                        <a:latin typeface="Cambria Math" panose="02040503050406030204" pitchFamily="18" charset="0"/>
                      </a:rPr>
                      <m:t>𝑠𝑖𝑛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nb-NO" b="0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nb-NO" b="0" i="1" dirty="0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nb-NO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nb-NO" b="0" i="1" dirty="0" smtClean="0"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𝑐𝑜𝑠</m:t>
                        </m:r>
                        <m:d>
                          <m:dPr>
                            <m:ctrlP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𝑐𝑜𝑠</m:t>
                        </m:r>
                        <m:d>
                          <m:dPr>
                            <m:ctrlP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−4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</a:p>
              <a:p>
                <a:pPr lvl="2"/>
                <a:endParaRPr lang="nb-NO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D130E5-380B-D98A-9EB4-EE8C61D94A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79" y="3730752"/>
                <a:ext cx="4759234" cy="2083671"/>
              </a:xfrm>
              <a:blipFill>
                <a:blip r:embed="rId2"/>
                <a:stretch>
                  <a:fillRect l="-5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39D16DC-7C6B-3BBB-4B58-F5254E726C74}"/>
                  </a:ext>
                </a:extLst>
              </p:cNvPr>
              <p:cNvSpPr txBox="1"/>
              <p:nvPr/>
            </p:nvSpPr>
            <p:spPr>
              <a:xfrm>
                <a:off x="6085543" y="1349754"/>
                <a:ext cx="4921686" cy="18918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u="sng" dirty="0"/>
                  <a:t>Incompressible Navier Stokes equation: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 err="1"/>
                  <a:t>Momemtum</a:t>
                </a:r>
                <a:r>
                  <a:rPr lang="en-US" dirty="0"/>
                  <a:t> equation: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num>
                          <m:den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𝐮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nb-NO" b="0" i="0" smtClean="0">
                            <a:latin typeface="Cambria Math" panose="02040503050406030204" pitchFamily="18" charset="0"/>
                          </a:rPr>
                          <m:t>∇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</m:d>
                    <m:r>
                      <a:rPr lang="nb-NO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m:rPr>
                        <m:sty m:val="p"/>
                      </m:rPr>
                      <a:rPr lang="nb-NO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m:rPr>
                        <m:sty m:val="p"/>
                      </m:rPr>
                      <a:rPr lang="nb-NO" b="0" i="1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nb-NO" b="0" i="0" smtClean="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b-NO" b="0" i="1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nb-NO" b="0" i="0" dirty="0" err="1">
                    <a:latin typeface="Cambria Math" panose="02040503050406030204" pitchFamily="18" charset="0"/>
                  </a:rPr>
                  <a:t>Continuity</a:t>
                </a:r>
                <a:r>
                  <a:rPr lang="nb-NO" b="0" i="0" dirty="0">
                    <a:latin typeface="Cambria Math" panose="02040503050406030204" pitchFamily="18" charset="0"/>
                  </a:rPr>
                  <a:t> </a:t>
                </a:r>
                <a:r>
                  <a:rPr lang="nb-NO" b="0" i="0" dirty="0" err="1">
                    <a:latin typeface="Cambria Math" panose="02040503050406030204" pitchFamily="18" charset="0"/>
                  </a:rPr>
                  <a:t>equation</a:t>
                </a:r>
                <a:r>
                  <a:rPr lang="nb-NO" b="0" i="0" dirty="0">
                    <a:latin typeface="Cambria Math" panose="02040503050406030204" pitchFamily="18" charset="0"/>
                  </a:rPr>
                  <a:t>: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	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39D16DC-7C6B-3BBB-4B58-F5254E726C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5543" y="1349754"/>
                <a:ext cx="4921686" cy="1891865"/>
              </a:xfrm>
              <a:prstGeom prst="rect">
                <a:avLst/>
              </a:prstGeom>
              <a:blipFill>
                <a:blip r:embed="rId3"/>
                <a:stretch>
                  <a:fillRect l="-1031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6652015B-02B6-38A7-556B-E374E68161AA}"/>
              </a:ext>
            </a:extLst>
          </p:cNvPr>
          <p:cNvSpPr txBox="1"/>
          <p:nvPr/>
        </p:nvSpPr>
        <p:spPr>
          <a:xfrm>
            <a:off x="6023428" y="3788229"/>
            <a:ext cx="1681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Backward step</a:t>
            </a:r>
          </a:p>
        </p:txBody>
      </p:sp>
    </p:spTree>
    <p:extLst>
      <p:ext uri="{BB962C8B-B14F-4D97-AF65-F5344CB8AC3E}">
        <p14:creationId xmlns:p14="http://schemas.microsoft.com/office/powerpoint/2010/main" val="2604914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187FB-3826-A13A-27DE-1AD08BEE9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Solver 1: Finite Volume Method (</a:t>
            </a:r>
            <a:r>
              <a:rPr lang="en-US" dirty="0" err="1"/>
              <a:t>openFoam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36C5A-0001-B896-535C-4B88340099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Uses </a:t>
            </a:r>
            <a:r>
              <a:rPr lang="en-US"/>
              <a:t>Piso algorithm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697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60F15-EB9B-302A-A859-87B8B6C51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Solver 2: Physics-Informed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74C17-3885-BB6C-CBC1-19540CA97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518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FB0F0-9D33-7833-091B-06BA37CB6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at Re=200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09468-F970-CF2A-5411-CE3546C294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831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984D7-D2CE-D5F3-4D33-71550CF3C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at Re=1000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C0D54-99DD-E31E-26DB-A88D993E7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544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E32BB-25E9-27ED-B610-6A5E47A25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Strengths and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74145-5798-88A0-0DA9-018F8901A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740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621CC-814A-D7A9-4BBC-27FE0D235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PINNs Have the Edge?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CBFE0-BFB3-7819-271F-24A0845F1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428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9AA2D-D8BC-9FBA-568C-9089539EA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Collaboration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747A52-6C3E-D967-E643-A05597C6F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89493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17168</TotalTime>
  <Words>119</Words>
  <Application>Microsoft Macintosh PowerPoint</Application>
  <PresentationFormat>Widescreen</PresentationFormat>
  <Paragraphs>22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Cambria Math</vt:lpstr>
      <vt:lpstr>Grandview Display</vt:lpstr>
      <vt:lpstr>DashVTI</vt:lpstr>
      <vt:lpstr>No Mesh?  No Problem - openFoam meets PINNs</vt:lpstr>
      <vt:lpstr>The Problems</vt:lpstr>
      <vt:lpstr>Solver 1: Finite Volume Method (openFoam)</vt:lpstr>
      <vt:lpstr>Solver 2: Physics-Informed Neural Networks</vt:lpstr>
      <vt:lpstr>Results at Re=200</vt:lpstr>
      <vt:lpstr>Results at Re=1000</vt:lpstr>
      <vt:lpstr>Strengths and Limitations</vt:lpstr>
      <vt:lpstr>Where PINNs Have the Edge?</vt:lpstr>
      <vt:lpstr>Collaboration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Henrik Haug</dc:creator>
  <cp:lastModifiedBy>Henrik Haug</cp:lastModifiedBy>
  <cp:revision>2</cp:revision>
  <dcterms:created xsi:type="dcterms:W3CDTF">2026-05-05T09:03:26Z</dcterms:created>
  <dcterms:modified xsi:type="dcterms:W3CDTF">2026-05-19T07:02:46Z</dcterms:modified>
</cp:coreProperties>
</file>