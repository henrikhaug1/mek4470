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71" r:id="rId3"/>
    <p:sldId id="265" r:id="rId4"/>
    <p:sldId id="260" r:id="rId5"/>
    <p:sldId id="257" r:id="rId6"/>
    <p:sldId id="258" r:id="rId7"/>
    <p:sldId id="267" r:id="rId8"/>
    <p:sldId id="268" r:id="rId9"/>
    <p:sldId id="261" r:id="rId10"/>
    <p:sldId id="272" r:id="rId11"/>
    <p:sldId id="274" r:id="rId12"/>
    <p:sldId id="262" r:id="rId13"/>
    <p:sldId id="263" r:id="rId14"/>
    <p:sldId id="264" r:id="rId15"/>
    <p:sldId id="273" r:id="rId16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F88E"/>
    <a:srgbClr val="BEF58C"/>
    <a:srgbClr val="B0E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72"/>
    <p:restoredTop sz="95618"/>
  </p:normalViewPr>
  <p:slideViewPr>
    <p:cSldViewPr snapToGrid="0">
      <p:cViewPr varScale="1">
        <p:scale>
          <a:sx n="176" d="100"/>
          <a:sy n="176" d="100"/>
        </p:scale>
        <p:origin x="175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1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0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79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3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6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2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9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0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5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3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72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5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7165D-2A79-28F3-FDB3-DC75D70F6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 noProof="1"/>
              <a:t>No Mesh? </a:t>
            </a:r>
            <a:br>
              <a:rPr lang="en-US" sz="4900" noProof="1"/>
            </a:br>
            <a:r>
              <a:rPr lang="en-US" sz="4900" noProof="1"/>
              <a:t>No Problem</a:t>
            </a:r>
            <a:br>
              <a:rPr lang="en-US" sz="4900" noProof="1"/>
            </a:br>
            <a:r>
              <a:rPr lang="en-US" sz="4900" noProof="1"/>
              <a:t>-</a:t>
            </a:r>
            <a:br>
              <a:rPr lang="en-US" sz="4900" noProof="1"/>
            </a:br>
            <a:r>
              <a:rPr lang="en-US" sz="4900" noProof="1"/>
              <a:t>openFoam meets PINNs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B1DB6-FD92-286B-5C10-6E9619267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 noProof="1"/>
              <a:t>In Navier Stokes incompressible laminar flows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DE6E991-9022-6CAC-F3DD-AE40F708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31" r="1709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6A191-0859-B998-90CC-1D0A200B5994}"/>
              </a:ext>
            </a:extLst>
          </p:cNvPr>
          <p:cNvSpPr txBox="1"/>
          <p:nvPr/>
        </p:nvSpPr>
        <p:spPr>
          <a:xfrm>
            <a:off x="150920" y="645406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Mek4470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10216-56D3-097C-A61E-77DF068058B6}"/>
              </a:ext>
            </a:extLst>
          </p:cNvPr>
          <p:cNvSpPr txBox="1"/>
          <p:nvPr/>
        </p:nvSpPr>
        <p:spPr>
          <a:xfrm>
            <a:off x="3808520" y="6471821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Henrik Haug</a:t>
            </a:r>
          </a:p>
        </p:txBody>
      </p:sp>
    </p:spTree>
    <p:extLst>
      <p:ext uri="{BB962C8B-B14F-4D97-AF65-F5344CB8AC3E}">
        <p14:creationId xmlns:p14="http://schemas.microsoft.com/office/powerpoint/2010/main" val="317224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E100-0178-F2CD-97F0-B366FB7A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PINNs?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0FCFF-EC2E-15EE-8815-E5894E1E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5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A5AD-57F9-048D-4E4C-6A7F8C59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Governing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F6078-B32A-E9E8-4975-AF0B0A9928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Incompressible Navier Stokes equation:</a:t>
                </a:r>
              </a:p>
              <a:p>
                <a:pPr marL="742950" lvl="1" indent="-285750"/>
                <a:r>
                  <a:rPr lang="en-US" dirty="0" err="1"/>
                  <a:t>Momemtum</a:t>
                </a:r>
                <a:r>
                  <a:rPr lang="en-US" dirty="0"/>
                  <a:t> equation:</a:t>
                </a:r>
              </a:p>
              <a:p>
                <a:pPr marL="1200150" lvl="2" indent="-285750"/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num>
                          <m:den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nb-NO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nb-NO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nb-NO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nb-NO"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nb-NO" i="1">
                        <a:latin typeface="Cambria Math" panose="02040503050406030204" pitchFamily="18" charset="0"/>
                      </a:rPr>
                      <m:t>p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nb-NO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b-NO" i="1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dirty="0"/>
              </a:p>
              <a:p>
                <a:pPr marL="742950" lvl="1" indent="-285750"/>
                <a:r>
                  <a:rPr lang="nb-NO" dirty="0" err="1">
                    <a:latin typeface="Cambria Math" panose="02040503050406030204" pitchFamily="18" charset="0"/>
                  </a:rPr>
                  <a:t>Continuity</a:t>
                </a:r>
                <a:r>
                  <a:rPr lang="nb-NO" dirty="0">
                    <a:latin typeface="Cambria Math" panose="02040503050406030204" pitchFamily="18" charset="0"/>
                  </a:rPr>
                  <a:t> </a:t>
                </a:r>
                <a:r>
                  <a:rPr lang="nb-NO" dirty="0" err="1">
                    <a:latin typeface="Cambria Math" panose="02040503050406030204" pitchFamily="18" charset="0"/>
                  </a:rPr>
                  <a:t>equation</a:t>
                </a:r>
                <a:r>
                  <a:rPr lang="nb-NO" dirty="0">
                    <a:latin typeface="Cambria Math" panose="02040503050406030204" pitchFamily="18" charset="0"/>
                  </a:rPr>
                  <a:t>:</a:t>
                </a:r>
              </a:p>
              <a:p>
                <a:pPr marL="1200150" lvl="2" indent="-28575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>
                        <a:latin typeface="Cambria Math" panose="02040503050406030204" pitchFamily="18" charset="0"/>
                      </a:rPr>
                      <m:t>∇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𝐮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F6078-B32A-E9E8-4975-AF0B0A992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23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584D-07CB-C7B7-168B-8E97E37DD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21274"/>
            <a:ext cx="3621024" cy="1271015"/>
          </a:xfrm>
        </p:spPr>
        <p:txBody>
          <a:bodyPr>
            <a:normAutofit fontScale="90000"/>
          </a:bodyPr>
          <a:lstStyle/>
          <a:p>
            <a:r>
              <a:rPr lang="en-US" dirty="0"/>
              <a:t>Test Cases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D130E5-380B-D98A-9EB4-EE8C61D94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882" y="4705373"/>
                <a:ext cx="4759234" cy="2083671"/>
              </a:xfrm>
            </p:spPr>
            <p:txBody>
              <a:bodyPr/>
              <a:lstStyle/>
              <a:p>
                <a:r>
                  <a:rPr lang="en-US" b="1" u="sng" dirty="0"/>
                  <a:t>Taylor green vortex benchmark</a:t>
                </a:r>
              </a:p>
              <a:p>
                <a:pPr lvl="1"/>
                <a:r>
                  <a:rPr lang="en-US" dirty="0"/>
                  <a:t>Exact solution: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nb-NO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nb-NO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b-NO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sSup>
                      <m:sSup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nb-NO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nb-NO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nb-NO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nb-NO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p>
                      <m:sSup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nb-NO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nb-NO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nb-NO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nb-NO" b="0" i="1" dirty="0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nb-NO" b="0" i="1" dirty="0">
                  <a:latin typeface="Cambria Math" panose="02040503050406030204" pitchFamily="18" charset="0"/>
                </a:endParaRPr>
              </a:p>
              <a:p>
                <a:pPr lvl="2"/>
                <a:endParaRPr lang="nb-NO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D130E5-380B-D98A-9EB4-EE8C61D94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882" y="4705373"/>
                <a:ext cx="4759234" cy="2083671"/>
              </a:xfrm>
              <a:blipFill>
                <a:blip r:embed="rId2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652015B-02B6-38A7-556B-E374E68161AA}"/>
              </a:ext>
            </a:extLst>
          </p:cNvPr>
          <p:cNvSpPr txBox="1"/>
          <p:nvPr/>
        </p:nvSpPr>
        <p:spPr>
          <a:xfrm>
            <a:off x="8430259" y="4705373"/>
            <a:ext cx="2488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Backward-Facing Step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85A21F-05D6-70D7-2FC3-9BB837CD769E}"/>
              </a:ext>
            </a:extLst>
          </p:cNvPr>
          <p:cNvSpPr txBox="1"/>
          <p:nvPr/>
        </p:nvSpPr>
        <p:spPr>
          <a:xfrm>
            <a:off x="4915116" y="4705373"/>
            <a:ext cx="333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Lid Driven Cavity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8C9E2-D617-53AF-BDB8-5BBF749F7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196" y="60221"/>
            <a:ext cx="8510917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1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87FB-3826-A13A-27DE-1AD08BEE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Solver 1: </a:t>
            </a:r>
            <a:r>
              <a:rPr lang="en-US" dirty="0" err="1"/>
              <a:t>OpenFoam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2C8DE6-7EF3-0AEF-CD88-CD8C02BCA828}"/>
              </a:ext>
            </a:extLst>
          </p:cNvPr>
          <p:cNvSpPr/>
          <p:nvPr/>
        </p:nvSpPr>
        <p:spPr>
          <a:xfrm>
            <a:off x="1301069" y="3840479"/>
            <a:ext cx="10890931" cy="25503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36C5A-0001-B896-535C-4B8834009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069" y="4434839"/>
            <a:ext cx="10890929" cy="18864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Integrate PDEs over each control volume (cell)</a:t>
            </a:r>
          </a:p>
          <a:p>
            <a:r>
              <a:rPr lang="en-US" dirty="0"/>
              <a:t>Apply Gauss’ Divergence theorem to convert volume integral to surface integral</a:t>
            </a:r>
          </a:p>
          <a:p>
            <a:r>
              <a:rPr lang="en-US" dirty="0"/>
              <a:t>Momentum equation becomes a linear system per timestep</a:t>
            </a:r>
          </a:p>
          <a:p>
            <a:r>
              <a:rPr lang="en-US" dirty="0"/>
              <a:t>Pressure emerges from continuity.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F153D4-2A99-BF13-549F-DC2FE4CEDD2C}"/>
              </a:ext>
            </a:extLst>
          </p:cNvPr>
          <p:cNvSpPr txBox="1">
            <a:spLocks/>
          </p:cNvSpPr>
          <p:nvPr/>
        </p:nvSpPr>
        <p:spPr>
          <a:xfrm>
            <a:off x="1301071" y="3718229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Finite Volume Discretization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49FFFD-19DC-3295-725C-A9ECD324C75C}"/>
              </a:ext>
            </a:extLst>
          </p:cNvPr>
          <p:cNvSpPr/>
          <p:nvPr/>
        </p:nvSpPr>
        <p:spPr>
          <a:xfrm>
            <a:off x="1301069" y="2057400"/>
            <a:ext cx="10890931" cy="16608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8D099D-7725-12F5-4824-27782DD47C40}"/>
              </a:ext>
            </a:extLst>
          </p:cNvPr>
          <p:cNvSpPr txBox="1">
            <a:spLocks/>
          </p:cNvSpPr>
          <p:nvPr/>
        </p:nvSpPr>
        <p:spPr>
          <a:xfrm>
            <a:off x="1301070" y="2057400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What is </a:t>
            </a:r>
            <a:r>
              <a:rPr lang="en-US" sz="3200" dirty="0" err="1"/>
              <a:t>openFoam</a:t>
            </a:r>
            <a:r>
              <a:rPr lang="en-US" sz="3200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1EE006-DAB7-9708-4FC3-B2582E84AB3B}"/>
                  </a:ext>
                </a:extLst>
              </p:cNvPr>
              <p:cNvSpPr txBox="1"/>
              <p:nvPr/>
            </p:nvSpPr>
            <p:spPr>
              <a:xfrm>
                <a:off x="1497628" y="2754140"/>
                <a:ext cx="616707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Transient, incompressible, laminar Navier-Stokes solver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Cell-centered u and p with fluxes defined at faces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Continuity </a:t>
                </a:r>
                <a14:m>
                  <m:oMath xmlns:m="http://schemas.openxmlformats.org/officeDocument/2006/math">
                    <m:r>
                      <a:rPr lang="nb-NO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⋅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dirty="0"/>
                  <a:t> introduces coupling challenge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1EE006-DAB7-9708-4FC3-B2582E84A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628" y="2754140"/>
                <a:ext cx="6167073" cy="923330"/>
              </a:xfrm>
              <a:prstGeom prst="rect">
                <a:avLst/>
              </a:prstGeom>
              <a:blipFill>
                <a:blip r:embed="rId2"/>
                <a:stretch>
                  <a:fillRect l="-823" t="-2703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187DE0-1B83-2450-878A-A3A41A90E8E4}"/>
                  </a:ext>
                </a:extLst>
              </p:cNvPr>
              <p:cNvSpPr txBox="1"/>
              <p:nvPr/>
            </p:nvSpPr>
            <p:spPr>
              <a:xfrm>
                <a:off x="5221224" y="1073829"/>
                <a:ext cx="8700523" cy="2244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PISO ALGO</a:t>
                </a:r>
              </a:p>
              <a:p>
                <a:r>
                  <a:rPr lang="en-US" dirty="0"/>
                  <a:t>Predictor: solve momentum equation with lagged pressure.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nb-NO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not divergence free.</a:t>
                </a:r>
              </a:p>
              <a:p>
                <a:r>
                  <a:rPr lang="en-US" dirty="0"/>
                  <a:t>Pressure solve: Poisson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>
                        <a:latin typeface="Cambria Math" panose="02040503050406030204" pitchFamily="18" charset="0"/>
                      </a:rPr>
                      <m:t>∇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nb-NO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b-NO">
                        <a:latin typeface="Cambria Math" panose="02040503050406030204" pitchFamily="18" charset="0"/>
                      </a:rPr>
                      <m:t>∇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enforces continuity</a:t>
                </a:r>
              </a:p>
              <a:p>
                <a:r>
                  <a:rPr lang="en-US" dirty="0"/>
                  <a:t>Corrector: update u and face fluxes with new pressure</a:t>
                </a:r>
              </a:p>
              <a:p>
                <a:r>
                  <a:rPr lang="en-US" dirty="0"/>
                  <a:t>Repeat 2-3 times per timestep to reduce splitting error</a:t>
                </a:r>
              </a:p>
              <a:p>
                <a:r>
                  <a:rPr lang="en-US" dirty="0"/>
                  <a:t>Requires CFL &lt; 1 (Explicit convection)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187DE0-1B83-2450-878A-A3A41A90E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224" y="1073829"/>
                <a:ext cx="8700523" cy="2244140"/>
              </a:xfrm>
              <a:prstGeom prst="rect">
                <a:avLst/>
              </a:prstGeom>
              <a:blipFill>
                <a:blip r:embed="rId3"/>
                <a:stretch>
                  <a:fillRect l="-583" t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697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0F15-EB9B-302A-A859-87B8B6C5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Solver 2: Physics-Informed Neural Networks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55262A-29F4-2812-2596-FC2B5833BA7F}"/>
              </a:ext>
            </a:extLst>
          </p:cNvPr>
          <p:cNvSpPr txBox="1">
            <a:spLocks/>
          </p:cNvSpPr>
          <p:nvPr/>
        </p:nvSpPr>
        <p:spPr>
          <a:xfrm>
            <a:off x="1430280" y="2049450"/>
            <a:ext cx="10890929" cy="54864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What are PINNs?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5F18F-0867-C81C-0E48-71F66583E933}"/>
              </a:ext>
            </a:extLst>
          </p:cNvPr>
          <p:cNvSpPr txBox="1"/>
          <p:nvPr/>
        </p:nvSpPr>
        <p:spPr>
          <a:xfrm>
            <a:off x="1103243" y="2812774"/>
            <a:ext cx="6091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Replaces mesh with a neural network (MLP)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PDE residual is embedded directly into the loss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DD03BC-9155-251C-1667-6DD9FE76B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1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918DA-17C1-9258-D11D-A16A9A6E9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Architecture (MLP):</a:t>
            </a:r>
          </a:p>
          <a:p>
            <a:pPr lvl="1"/>
            <a:r>
              <a:rPr lang="en-US" dirty="0"/>
              <a:t>4 hidden layers with 128 neurons each using tanh activation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C03048-E37F-AD7E-802E-7E3FBF85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Solver 2: Physics-Informed Neural Networks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33923A-E516-1ED4-235C-868AF0BFC5A5}"/>
              </a:ext>
            </a:extLst>
          </p:cNvPr>
          <p:cNvSpPr txBox="1">
            <a:spLocks/>
          </p:cNvSpPr>
          <p:nvPr/>
        </p:nvSpPr>
        <p:spPr>
          <a:xfrm>
            <a:off x="1430280" y="2049450"/>
            <a:ext cx="10890929" cy="54864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PINN setup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90B86D-0B39-822D-3DBB-69E0CC86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531" y="2468881"/>
            <a:ext cx="3752469" cy="335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6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B60A1-D5E3-B0BD-9F22-7160CF5A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42" y="1765601"/>
            <a:ext cx="3509233" cy="332679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Taylor Green Vortex Benchmark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CA4E2-D886-7D24-345D-B24A8E72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171" y="589060"/>
            <a:ext cx="7495210" cy="599617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ACC49-D9E6-9BF1-A7CD-61C5F4EDA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33989" y="589060"/>
            <a:ext cx="7631392" cy="6105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6CA233-B044-2838-EB47-099AB4D31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89" y="589060"/>
            <a:ext cx="7631380" cy="6105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6C09B7-4A20-30AB-03E8-EC149A51E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370" y="589052"/>
            <a:ext cx="7631372" cy="610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1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984D7-D2CE-D5F3-4D33-71550CF3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3236977" cy="2295143"/>
          </a:xfrm>
        </p:spPr>
        <p:txBody>
          <a:bodyPr/>
          <a:lstStyle/>
          <a:p>
            <a:r>
              <a:rPr lang="en-US" dirty="0"/>
              <a:t>Lid Driven Cavity Results</a:t>
            </a:r>
          </a:p>
        </p:txBody>
      </p:sp>
    </p:spTree>
    <p:extLst>
      <p:ext uri="{BB962C8B-B14F-4D97-AF65-F5344CB8AC3E}">
        <p14:creationId xmlns:p14="http://schemas.microsoft.com/office/powerpoint/2010/main" val="109554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B1D0-D432-0681-DC5F-EC7CBCF7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864" y="125205"/>
            <a:ext cx="9476936" cy="2688335"/>
          </a:xfrm>
        </p:spPr>
        <p:txBody>
          <a:bodyPr/>
          <a:lstStyle/>
          <a:p>
            <a:r>
              <a:rPr lang="en-US" dirty="0"/>
              <a:t>Backward-Facing Step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C47A1-DEA1-3AC2-AEF0-142064BB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82" y="1066800"/>
            <a:ext cx="12012218" cy="579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246FF-74D8-7D84-C772-E6ED9F448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12192000" cy="5872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86C0FF-A705-B78C-03F6-F4561D2F6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66800"/>
            <a:ext cx="12192000" cy="587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2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A454F1-F659-AC8C-99E4-F200D0C3E218}"/>
              </a:ext>
            </a:extLst>
          </p:cNvPr>
          <p:cNvSpPr txBox="1">
            <a:spLocks/>
          </p:cNvSpPr>
          <p:nvPr/>
        </p:nvSpPr>
        <p:spPr>
          <a:xfrm>
            <a:off x="2257864" y="125205"/>
            <a:ext cx="9476936" cy="26883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Backward-Facing Step Results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C4B6F-FC59-865D-C8E5-D668B3E41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819" y="1469372"/>
            <a:ext cx="7772400" cy="48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99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32BB-25E9-27ED-B610-6A5E47A2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and Limitations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89D9027-370F-CEA9-5A2F-F9E253B0E5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072585"/>
              </p:ext>
            </p:extLst>
          </p:nvPr>
        </p:nvGraphicFramePr>
        <p:xfrm>
          <a:off x="539179" y="4745927"/>
          <a:ext cx="108918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918">
                  <a:extLst>
                    <a:ext uri="{9D8B030D-6E8A-4147-A177-3AD203B41FA5}">
                      <a16:colId xmlns:a16="http://schemas.microsoft.com/office/drawing/2014/main" val="1905779268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3756693606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r>
                        <a:rPr lang="en-US" dirty="0" err="1"/>
                        <a:t>openFoam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336221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r>
                        <a:rPr lang="en-US" dirty="0"/>
                        <a:t>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Collocation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4949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r>
                        <a:rPr lang="en-US" dirty="0"/>
                        <a:t>FVM </a:t>
                      </a:r>
                      <a:r>
                        <a:rPr lang="en-US" dirty="0" err="1"/>
                        <a:t>discretizatrion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 differentiation via JAX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95439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r>
                        <a:rPr lang="en-US" dirty="0"/>
                        <a:t>PISO pressure-velocity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continuity is enforced through loss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622976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r>
                        <a:rPr lang="en-US" dirty="0"/>
                        <a:t>Linear solver per timestep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descent over all time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575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740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21CC-814A-D7A9-4BBC-27FE0D23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PINNs Have the Edge?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CBFE0-BFB3-7819-271F-24A0845F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B0AE1-E1B2-DF18-6812-E362C1D6E170}"/>
              </a:ext>
            </a:extLst>
          </p:cNvPr>
          <p:cNvSpPr txBox="1"/>
          <p:nvPr/>
        </p:nvSpPr>
        <p:spPr>
          <a:xfrm>
            <a:off x="1078992" y="2099549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Inverse problem</a:t>
            </a:r>
          </a:p>
        </p:txBody>
      </p:sp>
    </p:spTree>
    <p:extLst>
      <p:ext uri="{BB962C8B-B14F-4D97-AF65-F5344CB8AC3E}">
        <p14:creationId xmlns:p14="http://schemas.microsoft.com/office/powerpoint/2010/main" val="1861428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AA2D-D8BC-9FBA-568C-9089539E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7A52-6C3E-D967-E643-A05597C6F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9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4A3D-9B68-F4A9-8100-1A16FBBE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75454-CFF5-7FE0-0FD0-98EEF2DAA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8665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28903</TotalTime>
  <Words>325</Words>
  <Application>Microsoft Macintosh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 Math</vt:lpstr>
      <vt:lpstr>Grandview Display</vt:lpstr>
      <vt:lpstr>DashVTI</vt:lpstr>
      <vt:lpstr>No Mesh?  No Problem - openFoam meets PINNs</vt:lpstr>
      <vt:lpstr>Why PINNs?</vt:lpstr>
      <vt:lpstr>Governing Equations</vt:lpstr>
      <vt:lpstr>Test Cases Overview</vt:lpstr>
      <vt:lpstr>Solver 1: OpenFoam</vt:lpstr>
      <vt:lpstr>Solver 2: Physics-Informed Neural Networks</vt:lpstr>
      <vt:lpstr>Solver 2: Physics-Informed Neural Networks</vt:lpstr>
      <vt:lpstr>Taylor Green Vortex Benchmark</vt:lpstr>
      <vt:lpstr>Lid Driven Cavity Results</vt:lpstr>
      <vt:lpstr>Backward-Facing Step Results</vt:lpstr>
      <vt:lpstr>PowerPoint Presentation</vt:lpstr>
      <vt:lpstr>Strengths and Limitations</vt:lpstr>
      <vt:lpstr>Where PINNs Have the Edge?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Henrik Haug</dc:creator>
  <cp:lastModifiedBy>Henrik Haug</cp:lastModifiedBy>
  <cp:revision>4</cp:revision>
  <dcterms:created xsi:type="dcterms:W3CDTF">2026-05-05T09:03:26Z</dcterms:created>
  <dcterms:modified xsi:type="dcterms:W3CDTF">2026-05-28T13:57:32Z</dcterms:modified>
</cp:coreProperties>
</file>